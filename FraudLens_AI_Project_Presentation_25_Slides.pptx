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48640"/>
            <a:ext cx="10362895" cy="1280160"/>
          </a:xfrm>
          <a:prstGeom prst="rect">
            <a:avLst/>
          </a:prstGeom>
          <a:noFill/>
        </p:spPr>
        <p:txBody>
          <a:bodyPr wrap="square" lIns="0" tIns="0" rIns="0" bIns="0">
            <a:spAutoFit/>
          </a:bodyPr>
          <a:lstStyle/>
          <a:p>
            <a:pPr algn="ctr">
              <a:defRPr sz="2800" b="1">
                <a:solidFill>
                  <a:srgbClr val="002060"/>
                </a:solidFill>
                <a:latin typeface="Times New Roman"/>
              </a:defRPr>
            </a:pPr>
            <a:r>
              <a:t>SONA COLLEGE OF TECHNOLOGY</a:t>
            </a:r>
          </a:p>
          <a:p>
            <a:pPr algn="ctr">
              <a:defRPr sz="2200" b="1">
                <a:solidFill>
                  <a:srgbClr val="002060"/>
                </a:solidFill>
                <a:latin typeface="Times New Roman"/>
              </a:defRPr>
            </a:pPr>
            <a:r>
              <a:t>(Autonomous)</a:t>
            </a:r>
          </a:p>
          <a:p>
            <a:pPr algn="ctr">
              <a:spcBef>
                <a:spcPts val="800"/>
              </a:spcBef>
              <a:defRPr sz="2000" b="1">
                <a:solidFill>
                  <a:srgbClr val="184CA0"/>
                </a:solidFill>
                <a:latin typeface="Times New Roman"/>
              </a:defRPr>
            </a:pPr>
            <a:r>
              <a:t>Department of Computer Science and Engineering</a:t>
            </a:r>
          </a:p>
        </p:txBody>
      </p:sp>
      <p:sp>
        <p:nvSpPr>
          <p:cNvPr id="3" name="TextBox 2"/>
          <p:cNvSpPr txBox="1"/>
          <p:nvPr/>
        </p:nvSpPr>
        <p:spPr>
          <a:xfrm>
            <a:off x="914400" y="2148840"/>
            <a:ext cx="10362895" cy="1645920"/>
          </a:xfrm>
          <a:prstGeom prst="rect">
            <a:avLst/>
          </a:prstGeom>
          <a:noFill/>
        </p:spPr>
        <p:txBody>
          <a:bodyPr wrap="square" lIns="0" tIns="0" rIns="0" bIns="0">
            <a:spAutoFit/>
          </a:bodyPr>
          <a:lstStyle/>
          <a:p>
            <a:pPr algn="ctr">
              <a:defRPr sz="2600" b="1">
                <a:solidFill>
                  <a:srgbClr val="000000"/>
                </a:solidFill>
                <a:latin typeface="Times New Roman"/>
              </a:defRPr>
            </a:pPr>
            <a:r>
              <a:t>FRAUDLENS AI: EXPLAINABLE AI-BASED FINANCIAL</a:t>
            </a:r>
          </a:p>
          <a:p>
            <a:pPr algn="ctr">
              <a:defRPr sz="2600" b="1">
                <a:solidFill>
                  <a:srgbClr val="000000"/>
                </a:solidFill>
                <a:latin typeface="Times New Roman"/>
              </a:defRPr>
            </a:pPr>
            <a:r>
              <a:t>FRAUD &amp; RISK DETECTION SYSTEM</a:t>
            </a:r>
          </a:p>
          <a:p>
            <a:pPr algn="ctr">
              <a:spcBef>
                <a:spcPts val="1400"/>
              </a:spcBef>
              <a:defRPr sz="1700" b="1">
                <a:solidFill>
                  <a:srgbClr val="000000"/>
                </a:solidFill>
                <a:latin typeface="Times New Roman"/>
              </a:defRPr>
            </a:pPr>
            <a:r>
              <a:t>PROJECT PRESENTATION</a:t>
            </a:r>
          </a:p>
        </p:txBody>
      </p:sp>
      <p:graphicFrame>
        <p:nvGraphicFramePr>
          <p:cNvPr id="4" name="Table 3"/>
          <p:cNvGraphicFramePr>
            <a:graphicFrameLocks noGrp="1"/>
          </p:cNvGraphicFramePr>
          <p:nvPr/>
        </p:nvGraphicFramePr>
        <p:xfrm>
          <a:off x="914400" y="4343400"/>
          <a:ext cx="10362894" cy="1280160"/>
        </p:xfrm>
        <a:graphic>
          <a:graphicData uri="http://schemas.openxmlformats.org/drawingml/2006/table">
            <a:tbl>
              <a:tblPr firstRow="1" bandRow="1">
                <a:tableStyleId>{5C22544A-7EE6-4342-B048-85BDC9FD1C3A}</a:tableStyleId>
              </a:tblPr>
              <a:tblGrid>
                <a:gridCol w="2590495"/>
                <a:gridCol w="2590495"/>
                <a:gridCol w="2590495"/>
                <a:gridCol w="2591409"/>
              </a:tblGrid>
              <a:tr h="640080">
                <a:tc>
                  <a:txBody>
                    <a:bodyPr/>
                    <a:lstStyle/>
                    <a:p>
                      <a:pPr algn="ctr">
                        <a:defRPr sz="1300" b="1">
                          <a:solidFill>
                            <a:srgbClr val="FFFFFF"/>
                          </a:solidFill>
                          <a:latin typeface="Times New Roman"/>
                        </a:defRPr>
                      </a:pPr>
                      <a:r>
                        <a:t>STUDENT NAME</a:t>
                      </a:r>
                    </a:p>
                  </a:txBody>
                  <a:tcPr anchor="ctr">
                    <a:solidFill>
                      <a:srgbClr val="2969B0"/>
                    </a:solidFill>
                  </a:tcPr>
                </a:tc>
                <a:tc>
                  <a:txBody>
                    <a:bodyPr/>
                    <a:lstStyle/>
                    <a:p>
                      <a:pPr algn="ctr">
                        <a:defRPr sz="1300" b="1">
                          <a:solidFill>
                            <a:srgbClr val="FFFFFF"/>
                          </a:solidFill>
                          <a:latin typeface="Times New Roman"/>
                        </a:defRPr>
                      </a:pPr>
                      <a:r>
                        <a:t>REGISTER NUMBER</a:t>
                      </a:r>
                    </a:p>
                  </a:txBody>
                  <a:tcPr anchor="ctr">
                    <a:solidFill>
                      <a:srgbClr val="2969B0"/>
                    </a:solidFill>
                  </a:tcPr>
                </a:tc>
                <a:tc>
                  <a:txBody>
                    <a:bodyPr/>
                    <a:lstStyle/>
                    <a:p>
                      <a:pPr algn="ctr">
                        <a:defRPr sz="1300" b="1">
                          <a:solidFill>
                            <a:srgbClr val="FFFFFF"/>
                          </a:solidFill>
                          <a:latin typeface="Times New Roman"/>
                        </a:defRPr>
                      </a:pPr>
                      <a:r>
                        <a:t>PROJECT GUIDE</a:t>
                      </a:r>
                    </a:p>
                  </a:txBody>
                  <a:tcPr anchor="ctr">
                    <a:solidFill>
                      <a:srgbClr val="2969B0"/>
                    </a:solidFill>
                  </a:tcPr>
                </a:tc>
                <a:tc>
                  <a:txBody>
                    <a:bodyPr/>
                    <a:lstStyle/>
                    <a:p>
                      <a:pPr algn="ctr">
                        <a:defRPr sz="1300" b="1">
                          <a:solidFill>
                            <a:srgbClr val="FFFFFF"/>
                          </a:solidFill>
                          <a:latin typeface="Times New Roman"/>
                        </a:defRPr>
                      </a:pPr>
                      <a:r>
                        <a:t>DESIGNATION</a:t>
                      </a:r>
                    </a:p>
                  </a:txBody>
                  <a:tcPr anchor="ctr">
                    <a:solidFill>
                      <a:srgbClr val="2969B0"/>
                    </a:solidFill>
                  </a:tcPr>
                </a:tc>
              </a:tr>
              <a:tr h="640080">
                <a:tc>
                  <a:txBody>
                    <a:bodyPr/>
                    <a:lstStyle/>
                    <a:p>
                      <a:pPr algn="ctr">
                        <a:defRPr sz="1300" b="1">
                          <a:solidFill>
                            <a:srgbClr val="000000"/>
                          </a:solidFill>
                          <a:latin typeface="Times New Roman"/>
                        </a:defRPr>
                      </a:pPr>
                      <a:r>
                        <a:t>Mohamed Yasar M</a:t>
                      </a:r>
                    </a:p>
                  </a:txBody>
                  <a:tcPr anchor="ctr">
                    <a:solidFill>
                      <a:srgbClr val="F0F5FF"/>
                    </a:solidFill>
                  </a:tcPr>
                </a:tc>
                <a:tc>
                  <a:txBody>
                    <a:bodyPr/>
                    <a:lstStyle/>
                    <a:p>
                      <a:pPr algn="ctr">
                        <a:defRPr sz="1300" b="1">
                          <a:solidFill>
                            <a:srgbClr val="000000"/>
                          </a:solidFill>
                          <a:latin typeface="Times New Roman"/>
                        </a:defRPr>
                      </a:pPr>
                      <a:r>
                        <a:t>211419104035</a:t>
                      </a:r>
                    </a:p>
                  </a:txBody>
                  <a:tcPr anchor="ctr">
                    <a:solidFill>
                      <a:srgbClr val="F0F5FF"/>
                    </a:solidFill>
                  </a:tcPr>
                </a:tc>
                <a:tc>
                  <a:txBody>
                    <a:bodyPr/>
                    <a:lstStyle/>
                    <a:p>
                      <a:pPr algn="ctr">
                        <a:defRPr sz="1300" b="1">
                          <a:solidFill>
                            <a:srgbClr val="000000"/>
                          </a:solidFill>
                          <a:latin typeface="Times New Roman"/>
                        </a:defRPr>
                      </a:pPr>
                      <a:r>
                        <a:t>Dr. R. Senthil Kumar</a:t>
                      </a:r>
                    </a:p>
                  </a:txBody>
                  <a:tcPr anchor="ctr">
                    <a:solidFill>
                      <a:srgbClr val="F0F5FF"/>
                    </a:solidFill>
                  </a:tcPr>
                </a:tc>
                <a:tc>
                  <a:txBody>
                    <a:bodyPr/>
                    <a:lstStyle/>
                    <a:p>
                      <a:pPr algn="ctr">
                        <a:defRPr sz="1300" b="1">
                          <a:solidFill>
                            <a:srgbClr val="000000"/>
                          </a:solidFill>
                          <a:latin typeface="Times New Roman"/>
                        </a:defRPr>
                      </a:pPr>
                      <a:r>
                        <a:t>Professor / CSE</a:t>
                      </a:r>
                    </a:p>
                  </a:txBody>
                  <a:tcPr anchor="ctr">
                    <a:solidFill>
                      <a:srgbClr val="F0F5FF"/>
                    </a:solidFill>
                  </a:tcPr>
                </a:tc>
              </a:tr>
            </a:tbl>
          </a:graphicData>
        </a:graphic>
      </p:graphicFrame>
      <p:sp>
        <p:nvSpPr>
          <p:cNvPr id="5" name="TextBox 4"/>
          <p:cNvSpPr txBox="1"/>
          <p:nvPr/>
        </p:nvSpPr>
        <p:spPr>
          <a:xfrm>
            <a:off x="10515600" y="6263640"/>
            <a:ext cx="914400" cy="365760"/>
          </a:xfrm>
          <a:prstGeom prst="rect">
            <a:avLst/>
          </a:prstGeom>
          <a:noFill/>
        </p:spPr>
        <p:txBody>
          <a:bodyPr wrap="none">
            <a:spAutoFit/>
          </a:bodyPr>
          <a:lstStyle/>
          <a:p>
            <a:pPr algn="r">
              <a:defRPr sz="1000">
                <a:solidFill>
                  <a:srgbClr val="646464"/>
                </a:solidFill>
                <a:latin typeface="Times New Roman"/>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ABSTRACT</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2</a:t>
            </a:r>
          </a:p>
        </p:txBody>
      </p:sp>
      <p:sp>
        <p:nvSpPr>
          <p:cNvPr id="6" name="TextBox 5"/>
          <p:cNvSpPr txBox="1"/>
          <p:nvPr/>
        </p:nvSpPr>
        <p:spPr>
          <a:xfrm>
            <a:off x="1371600" y="1645920"/>
            <a:ext cx="9448495" cy="4114800"/>
          </a:xfrm>
          <a:prstGeom prst="rect">
            <a:avLst/>
          </a:prstGeom>
          <a:noFill/>
        </p:spPr>
        <p:txBody>
          <a:bodyPr wrap="square">
            <a:spAutoFit/>
          </a:bodyPr>
          <a:lstStyle/>
          <a:p>
            <a:pPr>
              <a:lnSpc>
                <a:spcPct val="135000"/>
              </a:lnSpc>
              <a:spcAft>
                <a:spcPts val="1600"/>
              </a:spcAft>
              <a:defRPr sz="1900">
                <a:solidFill>
                  <a:srgbClr val="1E1E1E"/>
                </a:solidFill>
                <a:latin typeface="Times New Roman"/>
              </a:defRPr>
            </a:pPr>
            <a:r>
              <a:t>In the contemporary financial digital economy, modern high-speed payment systems like UPI, cards, and real-time bank transfers clear transactions in sub-second intervals. Concurrently, financial fraud has become significantly more complex, making manual fraud inspection and static rule filters increasingly inadequate. FraudLens AI resolves this industry challenge by introducing an end-to-end, Explainable Artificial Intelligence (XAI) financial fraud and risk detection platform.</a:t>
            </a:r>
          </a:p>
          <a:p>
            <a:pPr>
              <a:lnSpc>
                <a:spcPct val="135000"/>
              </a:lnSpc>
              <a:defRPr sz="1900">
                <a:solidFill>
                  <a:srgbClr val="1E1E1E"/>
                </a:solidFill>
                <a:latin typeface="Times New Roman"/>
              </a:defRPr>
            </a:pPr>
            <a:r>
              <a:t>The system evaluates transactions using machine learning models (XGBoost, Random Forest, Logistic Regression) to predict fraud probability, while independently computing an operational 0–100 multi-factor risk score. Transactions are dynamically classified into Low, Medium, and High risk tiers, enabling sub-5ms frictionless clearance, step-up smartphone SMS OTP verification, and hard blocking. Exact game-theoretic feature attributions via TreeSHAP provide complete transparency, satisfying regulatory explainability directives while empowering forensic analysts through integrated investigation dashboards.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PROBLEM STATEMENT</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3</a:t>
            </a:r>
          </a:p>
        </p:txBody>
      </p:sp>
      <p:sp>
        <p:nvSpPr>
          <p:cNvPr id="6" name="TextBox 5"/>
          <p:cNvSpPr txBox="1"/>
          <p:nvPr/>
        </p:nvSpPr>
        <p:spPr>
          <a:xfrm>
            <a:off x="1188720" y="1645920"/>
            <a:ext cx="9814255" cy="4297680"/>
          </a:xfrm>
          <a:prstGeom prst="rect">
            <a:avLst/>
          </a:prstGeom>
          <a:noFill/>
        </p:spPr>
        <p:txBody>
          <a:bodyPr wrap="square">
            <a:spAutoFit/>
          </a:bodyPr>
          <a:lstStyle/>
          <a:p>
            <a:pPr>
              <a:lnSpc>
                <a:spcPct val="125000"/>
              </a:lnSpc>
              <a:spcAft>
                <a:spcPts val="1400"/>
              </a:spcAft>
              <a:defRPr sz="1800">
                <a:solidFill>
                  <a:srgbClr val="1E1E1E"/>
                </a:solidFill>
                <a:latin typeface="Times New Roman"/>
              </a:defRPr>
            </a:pPr>
            <a:r>
              <a:t>•   Exponential Growth in Real-Time Payment Volumes: Immediate clearing settlement systems process thousands of transactions per second, reducing authorization decision windows to under 50 milliseconds.</a:t>
            </a:r>
          </a:p>
          <a:p>
            <a:pPr>
              <a:lnSpc>
                <a:spcPct val="125000"/>
              </a:lnSpc>
              <a:spcAft>
                <a:spcPts val="1400"/>
              </a:spcAft>
              <a:defRPr sz="1800">
                <a:solidFill>
                  <a:srgbClr val="1E1E1E"/>
                </a:solidFill>
                <a:latin typeface="Times New Roman"/>
              </a:defRPr>
            </a:pPr>
            <a:r>
              <a:t>•   Failure of Manual Inspection: Human fraud analysts in Security Operations Centers cannot manually inspect high transaction volumes, leading to massive backlogs and average case resolution times exceeding 30 minutes.</a:t>
            </a:r>
          </a:p>
          <a:p>
            <a:pPr>
              <a:lnSpc>
                <a:spcPct val="125000"/>
              </a:lnSpc>
              <a:spcAft>
                <a:spcPts val="1400"/>
              </a:spcAft>
              <a:defRPr sz="1800">
                <a:solidFill>
                  <a:srgbClr val="1E1E1E"/>
                </a:solidFill>
                <a:latin typeface="Times New Roman"/>
              </a:defRPr>
            </a:pPr>
            <a:r>
              <a:t>•   Rigidity of Traditional Rule-Based Engines: Legacy systems rely on static threshold rules that miss non-linear, multi-hop fraud vectors, while generating up to 80% false alarms that cause legitimate customer drop-off.</a:t>
            </a:r>
          </a:p>
          <a:p>
            <a:pPr>
              <a:lnSpc>
                <a:spcPct val="125000"/>
              </a:lnSpc>
              <a:spcAft>
                <a:spcPts val="1400"/>
              </a:spcAft>
              <a:defRPr sz="1800">
                <a:solidFill>
                  <a:srgbClr val="1E1E1E"/>
                </a:solidFill>
                <a:latin typeface="Times New Roman"/>
              </a:defRPr>
            </a:pPr>
            <a:r>
              <a:t>•   The 'Black-Box' Machine Learning Dilemma: Advanced statistical ML models output solitary probability values without causal reasoning, violating regulatory compliance mandates such as GDPR Article 22 and RBI directives.</a:t>
            </a:r>
          </a:p>
          <a:p>
            <a:pPr>
              <a:lnSpc>
                <a:spcPct val="125000"/>
              </a:lnSpc>
              <a:spcAft>
                <a:spcPts val="1400"/>
              </a:spcAft>
              <a:defRPr sz="1800">
                <a:solidFill>
                  <a:srgbClr val="1E1E1E"/>
                </a:solidFill>
                <a:latin typeface="Times New Roman"/>
              </a:defRPr>
            </a:pPr>
            <a:r>
              <a:t>•   Conflation of Probability and Monetary Risk: Conventional architectures treat statistical anomaly probability as synonymous with operational financial exposure, lacking granular multi-factor risk prioritization.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OBJECTIVES</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4</a:t>
            </a:r>
          </a:p>
        </p:txBody>
      </p:sp>
      <p:sp>
        <p:nvSpPr>
          <p:cNvPr id="6" name="TextBox 5"/>
          <p:cNvSpPr txBox="1"/>
          <p:nvPr/>
        </p:nvSpPr>
        <p:spPr>
          <a:xfrm>
            <a:off x="1188720" y="1645920"/>
            <a:ext cx="9814255" cy="4297680"/>
          </a:xfrm>
          <a:prstGeom prst="rect">
            <a:avLst/>
          </a:prstGeom>
          <a:noFill/>
        </p:spPr>
        <p:txBody>
          <a:bodyPr wrap="square">
            <a:spAutoFit/>
          </a:bodyPr>
          <a:lstStyle/>
          <a:p>
            <a:pPr>
              <a:lnSpc>
                <a:spcPct val="120000"/>
              </a:lnSpc>
              <a:spcAft>
                <a:spcPts val="1200"/>
              </a:spcAft>
              <a:defRPr sz="1700">
                <a:solidFill>
                  <a:srgbClr val="1E1E1E"/>
                </a:solidFill>
                <a:latin typeface="Times New Roman"/>
              </a:defRPr>
            </a:pPr>
            <a:r>
              <a:t>•   Formulate a Robust Feature Pipeline: Build an automated, leakage-free 11-step preprocessing pipeline on a master corpus of 20,000 synthetic transaction records spanning 57 behavioral, temporal, and spatial features across 30 merchants.</a:t>
            </a:r>
          </a:p>
          <a:p>
            <a:pPr>
              <a:lnSpc>
                <a:spcPct val="120000"/>
              </a:lnSpc>
              <a:spcAft>
                <a:spcPts val="1200"/>
              </a:spcAft>
              <a:defRPr sz="1700">
                <a:solidFill>
                  <a:srgbClr val="1E1E1E"/>
                </a:solidFill>
                <a:latin typeface="Times New Roman"/>
              </a:defRPr>
            </a:pPr>
            <a:r>
              <a:t>•   Train and Benchmark Machine Learning Models: Evaluate regularized Logistic Regression, a 300-tree Random Forest, and extreme gradient boosted trees (XGBoost with scale_pos_weight=17.3), achieving 100.0% fraud recall.</a:t>
            </a:r>
          </a:p>
          <a:p>
            <a:pPr>
              <a:lnSpc>
                <a:spcPct val="120000"/>
              </a:lnSpc>
              <a:spcAft>
                <a:spcPts val="1200"/>
              </a:spcAft>
              <a:defRPr sz="1700">
                <a:solidFill>
                  <a:srgbClr val="1E1E1E"/>
                </a:solidFill>
                <a:latin typeface="Times New Roman"/>
              </a:defRPr>
            </a:pPr>
            <a:r>
              <a:t>•   Decouple Probability and Risk Scoring: Strictly separate model-derived continuous Fraud Probability from an independent Deterministic Multi-Factor Risk Score (0–100) based on spending deviations, velocity bursts, and novelty signals.</a:t>
            </a:r>
          </a:p>
          <a:p>
            <a:pPr>
              <a:lnSpc>
                <a:spcPct val="120000"/>
              </a:lnSpc>
              <a:spcAft>
                <a:spcPts val="1200"/>
              </a:spcAft>
              <a:defRPr sz="1700">
                <a:solidFill>
                  <a:srgbClr val="1E1E1E"/>
                </a:solidFill>
                <a:latin typeface="Times New Roman"/>
              </a:defRPr>
            </a:pPr>
            <a:r>
              <a:t>•   Implement Actionable Risk Tiering: Enforce a sub-5ms pre-authorization gatekeeper across three discrete tiers: Low Risk (0–30: ALLOW), Medium Risk (31–70: REVIEW with SMS OTP challenge), and High Risk (71–100: BLOCK).</a:t>
            </a:r>
          </a:p>
          <a:p>
            <a:pPr>
              <a:lnSpc>
                <a:spcPct val="120000"/>
              </a:lnSpc>
              <a:spcAft>
                <a:spcPts val="1200"/>
              </a:spcAft>
              <a:defRPr sz="1700">
                <a:solidFill>
                  <a:srgbClr val="1E1E1E"/>
                </a:solidFill>
                <a:latin typeface="Times New Roman"/>
              </a:defRPr>
            </a:pPr>
            <a:r>
              <a:t>•   Deliver Game-Theoretic Explainability: Embed TreeSHAP into the inference engine to compute exact local feature attributions within 1.1ms, rendering interactive waterfall charts and evidence-grounded forensic narratives.</a:t>
            </a:r>
          </a:p>
          <a:p>
            <a:pPr>
              <a:lnSpc>
                <a:spcPct val="120000"/>
              </a:lnSpc>
              <a:spcAft>
                <a:spcPts val="1200"/>
              </a:spcAft>
              <a:defRPr sz="1700">
                <a:solidFill>
                  <a:srgbClr val="1E1E1E"/>
                </a:solidFill>
                <a:latin typeface="Times New Roman"/>
              </a:defRPr>
            </a:pPr>
            <a:r>
              <a:t>•   Provide Integrated Investigation &amp; Auditing: Develop an autonomous forensic case docket, AI investigation copilot, and immutable cryptographic audit ledger to streamline analyst workflows and compliance reporting.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EXISTING SYSTEM</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5</a:t>
            </a:r>
          </a:p>
        </p:txBody>
      </p:sp>
      <p:sp>
        <p:nvSpPr>
          <p:cNvPr id="6" name="TextBox 5"/>
          <p:cNvSpPr txBox="1"/>
          <p:nvPr/>
        </p:nvSpPr>
        <p:spPr>
          <a:xfrm>
            <a:off x="1371600" y="1645920"/>
            <a:ext cx="9448495" cy="4114800"/>
          </a:xfrm>
          <a:prstGeom prst="rect">
            <a:avLst/>
          </a:prstGeom>
          <a:noFill/>
        </p:spPr>
        <p:txBody>
          <a:bodyPr wrap="square">
            <a:spAutoFit/>
          </a:bodyPr>
          <a:lstStyle/>
          <a:p>
            <a:pPr>
              <a:lnSpc>
                <a:spcPct val="135000"/>
              </a:lnSpc>
              <a:spcAft>
                <a:spcPts val="1600"/>
              </a:spcAft>
              <a:defRPr sz="1900">
                <a:solidFill>
                  <a:srgbClr val="1E1E1E"/>
                </a:solidFill>
                <a:latin typeface="Times New Roman"/>
              </a:defRPr>
            </a:pPr>
            <a:r>
              <a:t>Conventional financial fraud prevention infrastructures currently deployed across banking networks are predominantly bifurcated into two separate operational mechanisms: static deterministic rule-based expert systems and monolithic black-box machine learning engines.</a:t>
            </a:r>
          </a:p>
          <a:p>
            <a:pPr>
              <a:lnSpc>
                <a:spcPct val="135000"/>
              </a:lnSpc>
              <a:defRPr sz="1900">
                <a:solidFill>
                  <a:srgbClr val="1E1E1E"/>
                </a:solidFill>
                <a:latin typeface="Times New Roman"/>
              </a:defRPr>
            </a:pPr>
            <a:r>
              <a:t>Static heuristic rule engines apply flat threshold filters (such as rejecting transactions exceeding a fixed amount or flagging overseas card transactions). More recently, banks have incorporated commercial scoring models that compute binary classification outputs. However, these systems operate in complete isolation from post-authorization forensic review tools, provide no mathematical feature attribution, and enforce rigid binary decisions (blindly pass or hard block) without adaptive customer verification.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LIMITATIONS OF EXISTING SYSTEM</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6</a:t>
            </a:r>
          </a:p>
        </p:txBody>
      </p:sp>
      <p:sp>
        <p:nvSpPr>
          <p:cNvPr id="6" name="TextBox 5"/>
          <p:cNvSpPr txBox="1"/>
          <p:nvPr/>
        </p:nvSpPr>
        <p:spPr>
          <a:xfrm>
            <a:off x="1188720" y="1645920"/>
            <a:ext cx="9814255" cy="4297680"/>
          </a:xfrm>
          <a:prstGeom prst="rect">
            <a:avLst/>
          </a:prstGeom>
          <a:noFill/>
        </p:spPr>
        <p:txBody>
          <a:bodyPr wrap="square">
            <a:spAutoFit/>
          </a:bodyPr>
          <a:lstStyle/>
          <a:p>
            <a:pPr>
              <a:lnSpc>
                <a:spcPct val="125000"/>
              </a:lnSpc>
              <a:spcAft>
                <a:spcPts val="1200"/>
              </a:spcAft>
              <a:defRPr sz="1750">
                <a:solidFill>
                  <a:srgbClr val="1E1E1E"/>
                </a:solidFill>
                <a:latin typeface="Times New Roman"/>
              </a:defRPr>
            </a:pPr>
            <a:r>
              <a:t>•   High False Positive Rate: Heuristic rules lack individualized behavioral context, incorrectly declining up to 80% of legitimate consumer transactions during travel or festive shopping.</a:t>
            </a:r>
          </a:p>
          <a:p>
            <a:pPr>
              <a:lnSpc>
                <a:spcPct val="125000"/>
              </a:lnSpc>
              <a:spcAft>
                <a:spcPts val="1200"/>
              </a:spcAft>
              <a:defRPr sz="1750">
                <a:solidFill>
                  <a:srgbClr val="1E1E1E"/>
                </a:solidFill>
                <a:latin typeface="Times New Roman"/>
              </a:defRPr>
            </a:pPr>
            <a:r>
              <a:t>•   Total Lack of Causal Explainability: Black-box ML models return opaque probability scores without articulating which features drove the risk, violating GDPR Article 22 Right to Explanation.</a:t>
            </a:r>
          </a:p>
          <a:p>
            <a:pPr>
              <a:lnSpc>
                <a:spcPct val="125000"/>
              </a:lnSpc>
              <a:spcAft>
                <a:spcPts val="1200"/>
              </a:spcAft>
              <a:defRPr sz="1750">
                <a:solidFill>
                  <a:srgbClr val="1E1E1E"/>
                </a:solidFill>
                <a:latin typeface="Times New Roman"/>
              </a:defRPr>
            </a:pPr>
            <a:r>
              <a:t>•   Acute Rule Inelasticity &amp; Bloat: Static rules cannot adapt dynamically to evolving account takeover (ATO) attacks, while decades of accumulating conflicting rules severely degrade gateway processing speed.</a:t>
            </a:r>
          </a:p>
          <a:p>
            <a:pPr>
              <a:lnSpc>
                <a:spcPct val="125000"/>
              </a:lnSpc>
              <a:spcAft>
                <a:spcPts val="1200"/>
              </a:spcAft>
              <a:defRPr sz="1750">
                <a:solidFill>
                  <a:srgbClr val="1E1E1E"/>
                </a:solidFill>
                <a:latin typeface="Times New Roman"/>
              </a:defRPr>
            </a:pPr>
            <a:r>
              <a:t>•   Conflation of Statistical Probability and Risk: A ₹100 payment with novelty is flagged identically to a ₹2,00,000 capital exfiltration, because probability is improperly equated with financial loss exposure.</a:t>
            </a:r>
          </a:p>
          <a:p>
            <a:pPr>
              <a:lnSpc>
                <a:spcPct val="125000"/>
              </a:lnSpc>
              <a:spcAft>
                <a:spcPts val="1200"/>
              </a:spcAft>
              <a:defRPr sz="1750">
                <a:solidFill>
                  <a:srgbClr val="1E1E1E"/>
                </a:solidFill>
                <a:latin typeface="Times New Roman"/>
              </a:defRPr>
            </a:pPr>
            <a:r>
              <a:t>•   Severe Operational Investigation Latency: Human investigators must manually collect logs across disparate ledgers, spending 30 to 45 minutes to adjudicate a single flagged transaction.</a:t>
            </a:r>
          </a:p>
          <a:p>
            <a:pPr>
              <a:lnSpc>
                <a:spcPct val="125000"/>
              </a:lnSpc>
              <a:spcAft>
                <a:spcPts val="1200"/>
              </a:spcAft>
              <a:defRPr sz="1750">
                <a:solidFill>
                  <a:srgbClr val="1E1E1E"/>
                </a:solidFill>
                <a:latin typeface="Times New Roman"/>
              </a:defRPr>
            </a:pPr>
            <a:r>
              <a:t>•   Rigid Binary Decisioning: Lacking intermediate step-up verification, borderline transactions are either hard-blocked (causing customer friction) or blindly approved (causing fraud losses).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PROPOSED SYSTEM</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7</a:t>
            </a:r>
          </a:p>
        </p:txBody>
      </p:sp>
      <p:sp>
        <p:nvSpPr>
          <p:cNvPr id="6" name="TextBox 5"/>
          <p:cNvSpPr txBox="1"/>
          <p:nvPr/>
        </p:nvSpPr>
        <p:spPr>
          <a:xfrm>
            <a:off x="1097280" y="1371600"/>
            <a:ext cx="9997135" cy="914400"/>
          </a:xfrm>
          <a:prstGeom prst="rect">
            <a:avLst/>
          </a:prstGeom>
          <a:noFill/>
        </p:spPr>
        <p:txBody>
          <a:bodyPr wrap="square">
            <a:spAutoFit/>
          </a:bodyPr>
          <a:lstStyle/>
          <a:p>
            <a:pPr>
              <a:lnSpc>
                <a:spcPct val="125000"/>
              </a:lnSpc>
              <a:defRPr sz="1750">
                <a:solidFill>
                  <a:srgbClr val="1E1E1E"/>
                </a:solidFill>
                <a:latin typeface="Times New Roman"/>
              </a:defRPr>
            </a:pPr>
            <a:r>
              <a:t>FraudLens AI introduces an integrated, multi-tier software architecture that harmonizes high-accuracy gradient-boosted machine learning, deterministic multi-factor risk assessment, real-time TreeSHAP explainability, sub-5ms gatekeeper decisioning, and autonomous forensic case management into a cohesive platform.</a:t>
            </a:r>
          </a:p>
        </p:txBody>
      </p:sp>
      <p:sp>
        <p:nvSpPr>
          <p:cNvPr id="7" name="Rounded Rectangle 6"/>
          <p:cNvSpPr/>
          <p:nvPr/>
        </p:nvSpPr>
        <p:spPr>
          <a:xfrm>
            <a:off x="1097280" y="2468880"/>
            <a:ext cx="3108960" cy="1051560"/>
          </a:xfrm>
          <a:prstGeom prst="roundRect">
            <a:avLst/>
          </a:prstGeom>
          <a:solidFill>
            <a:srgbClr val="F8FA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400" b="1">
                <a:solidFill>
                  <a:srgbClr val="002060"/>
                </a:solidFill>
                <a:latin typeface="Times New Roman"/>
              </a:defRPr>
            </a:pPr>
            <a:r>
              <a:t>1. Transaction Input</a:t>
            </a:r>
          </a:p>
          <a:p>
            <a:pPr algn="ctr">
              <a:spcBef>
                <a:spcPts val="300"/>
              </a:spcBef>
              <a:defRPr sz="1150">
                <a:solidFill>
                  <a:srgbClr val="1E1E1E"/>
                </a:solidFill>
                <a:latin typeface="Times New Roman"/>
              </a:defRPr>
            </a:pPr>
            <a:r>
              <a:t>Client payment payload</a:t>
            </a:r>
            <a:br/>
            <a:r>
              <a:t>(Amount, Merchant, Device)</a:t>
            </a:r>
          </a:p>
        </p:txBody>
      </p:sp>
      <p:sp>
        <p:nvSpPr>
          <p:cNvPr id="8" name="Rounded Rectangle 7"/>
          <p:cNvSpPr/>
          <p:nvPr/>
        </p:nvSpPr>
        <p:spPr>
          <a:xfrm>
            <a:off x="4540910" y="2468880"/>
            <a:ext cx="3108960" cy="1051560"/>
          </a:xfrm>
          <a:prstGeom prst="roundRect">
            <a:avLst/>
          </a:prstGeom>
          <a:solidFill>
            <a:srgbClr val="F8FA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400" b="1">
                <a:solidFill>
                  <a:srgbClr val="002060"/>
                </a:solidFill>
                <a:latin typeface="Times New Roman"/>
              </a:defRPr>
            </a:pPr>
            <a:r>
              <a:t>2. Data Validation</a:t>
            </a:r>
          </a:p>
          <a:p>
            <a:pPr algn="ctr">
              <a:spcBef>
                <a:spcPts val="300"/>
              </a:spcBef>
              <a:defRPr sz="1150">
                <a:solidFill>
                  <a:srgbClr val="1E1E1E"/>
                </a:solidFill>
                <a:latin typeface="Times New Roman"/>
              </a:defRPr>
            </a:pPr>
            <a:r>
              <a:t>11-step schema checks &amp;</a:t>
            </a:r>
            <a:br/>
            <a:r>
              <a:t>target leakage prevention</a:t>
            </a:r>
          </a:p>
        </p:txBody>
      </p:sp>
      <p:sp>
        <p:nvSpPr>
          <p:cNvPr id="9" name="Rounded Rectangle 8"/>
          <p:cNvSpPr/>
          <p:nvPr/>
        </p:nvSpPr>
        <p:spPr>
          <a:xfrm>
            <a:off x="7985455" y="2468880"/>
            <a:ext cx="3108960" cy="1051560"/>
          </a:xfrm>
          <a:prstGeom prst="roundRect">
            <a:avLst/>
          </a:prstGeom>
          <a:solidFill>
            <a:srgbClr val="F8FA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400" b="1">
                <a:solidFill>
                  <a:srgbClr val="002060"/>
                </a:solidFill>
                <a:latin typeface="Times New Roman"/>
              </a:defRPr>
            </a:pPr>
            <a:r>
              <a:t>3. Preprocessing &amp; Eng.</a:t>
            </a:r>
          </a:p>
          <a:p>
            <a:pPr algn="ctr">
              <a:spcBef>
                <a:spcPts val="300"/>
              </a:spcBef>
              <a:defRPr sz="1150">
                <a:solidFill>
                  <a:srgbClr val="1E1E1E"/>
                </a:solidFill>
                <a:latin typeface="Times New Roman"/>
              </a:defRPr>
            </a:pPr>
            <a:r>
              <a:t>StandardScaler, OHE, &amp;</a:t>
            </a:r>
            <a:br/>
            <a:r>
              <a:t>26 derived behavioral ratios</a:t>
            </a:r>
          </a:p>
        </p:txBody>
      </p:sp>
      <p:sp>
        <p:nvSpPr>
          <p:cNvPr id="10" name="Rounded Rectangle 9"/>
          <p:cNvSpPr/>
          <p:nvPr/>
        </p:nvSpPr>
        <p:spPr>
          <a:xfrm>
            <a:off x="1097280" y="3703320"/>
            <a:ext cx="3108960" cy="1051560"/>
          </a:xfrm>
          <a:prstGeom prst="roundRect">
            <a:avLst/>
          </a:prstGeom>
          <a:solidFill>
            <a:srgbClr val="F8FA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400" b="1">
                <a:solidFill>
                  <a:srgbClr val="002060"/>
                </a:solidFill>
                <a:latin typeface="Times New Roman"/>
              </a:defRPr>
            </a:pPr>
            <a:r>
              <a:t>4. ML Inference</a:t>
            </a:r>
          </a:p>
          <a:p>
            <a:pPr algn="ctr">
              <a:spcBef>
                <a:spcPts val="300"/>
              </a:spcBef>
              <a:defRPr sz="1150">
                <a:solidFill>
                  <a:srgbClr val="1E1E1E"/>
                </a:solidFill>
                <a:latin typeface="Times New Roman"/>
              </a:defRPr>
            </a:pPr>
            <a:r>
              <a:t>XGBoost Champion model</a:t>
            </a:r>
            <a:br/>
            <a:r>
              <a:t>(Fraud Probability: 0.0 - 1.0)</a:t>
            </a:r>
          </a:p>
        </p:txBody>
      </p:sp>
      <p:sp>
        <p:nvSpPr>
          <p:cNvPr id="11" name="Rounded Rectangle 10"/>
          <p:cNvSpPr/>
          <p:nvPr/>
        </p:nvSpPr>
        <p:spPr>
          <a:xfrm>
            <a:off x="4540910" y="3703320"/>
            <a:ext cx="3108960" cy="1051560"/>
          </a:xfrm>
          <a:prstGeom prst="roundRect">
            <a:avLst/>
          </a:prstGeom>
          <a:solidFill>
            <a:srgbClr val="F8FA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400" b="1">
                <a:solidFill>
                  <a:srgbClr val="002060"/>
                </a:solidFill>
                <a:latin typeface="Times New Roman"/>
              </a:defRPr>
            </a:pPr>
            <a:r>
              <a:t>5. Risk Scoring</a:t>
            </a:r>
          </a:p>
          <a:p>
            <a:pPr algn="ctr">
              <a:spcBef>
                <a:spcPts val="300"/>
              </a:spcBef>
              <a:defRPr sz="1150">
                <a:solidFill>
                  <a:srgbClr val="1E1E1E"/>
                </a:solidFill>
                <a:latin typeface="Times New Roman"/>
              </a:defRPr>
            </a:pPr>
            <a:r>
              <a:t>Deterministic 0-100 score</a:t>
            </a:r>
            <a:br/>
            <a:r>
              <a:t>(ML, Velocity, Deviation, Env)</a:t>
            </a:r>
          </a:p>
        </p:txBody>
      </p:sp>
      <p:sp>
        <p:nvSpPr>
          <p:cNvPr id="12" name="Rounded Rectangle 11"/>
          <p:cNvSpPr/>
          <p:nvPr/>
        </p:nvSpPr>
        <p:spPr>
          <a:xfrm>
            <a:off x="7985455" y="3703320"/>
            <a:ext cx="3108960" cy="1051560"/>
          </a:xfrm>
          <a:prstGeom prst="roundRect">
            <a:avLst/>
          </a:prstGeom>
          <a:solidFill>
            <a:srgbClr val="F8FA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400" b="1">
                <a:solidFill>
                  <a:srgbClr val="002060"/>
                </a:solidFill>
                <a:latin typeface="Times New Roman"/>
              </a:defRPr>
            </a:pPr>
            <a:r>
              <a:t>6. Risk Tiering</a:t>
            </a:r>
          </a:p>
          <a:p>
            <a:pPr algn="ctr">
              <a:spcBef>
                <a:spcPts val="300"/>
              </a:spcBef>
              <a:defRPr sz="1150">
                <a:solidFill>
                  <a:srgbClr val="1E1E1E"/>
                </a:solidFill>
                <a:latin typeface="Times New Roman"/>
              </a:defRPr>
            </a:pPr>
            <a:r>
              <a:t>LOW (0-30) | MED (31-70)</a:t>
            </a:r>
            <a:br/>
            <a:r>
              <a:t>HIGH (71-100)</a:t>
            </a:r>
          </a:p>
        </p:txBody>
      </p:sp>
      <p:sp>
        <p:nvSpPr>
          <p:cNvPr id="13" name="Rounded Rectangle 12"/>
          <p:cNvSpPr/>
          <p:nvPr/>
        </p:nvSpPr>
        <p:spPr>
          <a:xfrm>
            <a:off x="1097280" y="4937760"/>
            <a:ext cx="3108960" cy="1051560"/>
          </a:xfrm>
          <a:prstGeom prst="roundRect">
            <a:avLst/>
          </a:prstGeom>
          <a:solidFill>
            <a:srgbClr val="F8FA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400" b="1">
                <a:solidFill>
                  <a:srgbClr val="002060"/>
                </a:solidFill>
                <a:latin typeface="Times New Roman"/>
              </a:defRPr>
            </a:pPr>
            <a:r>
              <a:t>7. TreeSHAP XAI</a:t>
            </a:r>
          </a:p>
          <a:p>
            <a:pPr algn="ctr">
              <a:spcBef>
                <a:spcPts val="300"/>
              </a:spcBef>
              <a:defRPr sz="1150">
                <a:solidFill>
                  <a:srgbClr val="1E1E1E"/>
                </a:solidFill>
                <a:latin typeface="Times New Roman"/>
              </a:defRPr>
            </a:pPr>
            <a:r>
              <a:t>Game-theoretic local &amp;</a:t>
            </a:r>
            <a:br/>
            <a:r>
              <a:t>global feature attribution</a:t>
            </a:r>
          </a:p>
        </p:txBody>
      </p:sp>
      <p:sp>
        <p:nvSpPr>
          <p:cNvPr id="14" name="Rounded Rectangle 13"/>
          <p:cNvSpPr/>
          <p:nvPr/>
        </p:nvSpPr>
        <p:spPr>
          <a:xfrm>
            <a:off x="4540910" y="4937760"/>
            <a:ext cx="3108960" cy="1051560"/>
          </a:xfrm>
          <a:prstGeom prst="roundRect">
            <a:avLst/>
          </a:prstGeom>
          <a:solidFill>
            <a:srgbClr val="F8FA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400" b="1">
                <a:solidFill>
                  <a:srgbClr val="002060"/>
                </a:solidFill>
                <a:latin typeface="Times New Roman"/>
              </a:defRPr>
            </a:pPr>
            <a:r>
              <a:t>8. Gatekeeper &amp; Review</a:t>
            </a:r>
          </a:p>
          <a:p>
            <a:pPr algn="ctr">
              <a:spcBef>
                <a:spcPts val="300"/>
              </a:spcBef>
              <a:defRPr sz="1150">
                <a:solidFill>
                  <a:srgbClr val="1E1E1E"/>
                </a:solidFill>
                <a:latin typeface="Times New Roman"/>
              </a:defRPr>
            </a:pPr>
            <a:r>
              <a:t>ALLOW / REVIEW / BLOCK</a:t>
            </a:r>
            <a:br/>
            <a:r>
              <a:t>Step-Up SMS OTP Challenge</a:t>
            </a:r>
          </a:p>
        </p:txBody>
      </p:sp>
      <p:sp>
        <p:nvSpPr>
          <p:cNvPr id="15" name="Rounded Rectangle 14"/>
          <p:cNvSpPr/>
          <p:nvPr/>
        </p:nvSpPr>
        <p:spPr>
          <a:xfrm>
            <a:off x="7985455" y="4937760"/>
            <a:ext cx="3108960" cy="1051560"/>
          </a:xfrm>
          <a:prstGeom prst="roundRect">
            <a:avLst/>
          </a:prstGeom>
          <a:solidFill>
            <a:srgbClr val="F8FA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400" b="1">
                <a:solidFill>
                  <a:srgbClr val="002060"/>
                </a:solidFill>
                <a:latin typeface="Times New Roman"/>
              </a:defRPr>
            </a:pPr>
            <a:r>
              <a:t>9. Investigation Hub</a:t>
            </a:r>
          </a:p>
          <a:p>
            <a:pPr algn="ctr">
              <a:spcBef>
                <a:spcPts val="300"/>
              </a:spcBef>
              <a:defRPr sz="1150">
                <a:solidFill>
                  <a:srgbClr val="1E1E1E"/>
                </a:solidFill>
                <a:latin typeface="Times New Roman"/>
              </a:defRPr>
            </a:pPr>
            <a:r>
              <a:t>Forensic case docket &amp;</a:t>
            </a:r>
            <a:br/>
            <a:r>
              <a:t>Live Command Radar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ADVANTAGES OF PROPOSED SYSTEM</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8</a:t>
            </a:r>
          </a:p>
        </p:txBody>
      </p:sp>
      <p:sp>
        <p:nvSpPr>
          <p:cNvPr id="6" name="TextBox 5"/>
          <p:cNvSpPr txBox="1"/>
          <p:nvPr/>
        </p:nvSpPr>
        <p:spPr>
          <a:xfrm>
            <a:off x="1188720" y="1645920"/>
            <a:ext cx="9814255" cy="4297680"/>
          </a:xfrm>
          <a:prstGeom prst="rect">
            <a:avLst/>
          </a:prstGeom>
          <a:noFill/>
        </p:spPr>
        <p:txBody>
          <a:bodyPr wrap="square">
            <a:spAutoFit/>
          </a:bodyPr>
          <a:lstStyle/>
          <a:p>
            <a:pPr>
              <a:lnSpc>
                <a:spcPct val="125000"/>
              </a:lnSpc>
              <a:spcAft>
                <a:spcPts val="1200"/>
              </a:spcAft>
              <a:defRPr sz="1750">
                <a:solidFill>
                  <a:srgbClr val="1E1E1E"/>
                </a:solidFill>
                <a:latin typeface="Times New Roman"/>
              </a:defRPr>
            </a:pPr>
            <a:r>
              <a:t>•   Sub-5ms Real-Time Decisioning: Executes complete end-to-end evaluation—including ML scoring, TreeSHAP attribution, and database commit—in an average of 4.80 milliseconds, well within the 50ms banking SLA.</a:t>
            </a:r>
          </a:p>
          <a:p>
            <a:pPr>
              <a:lnSpc>
                <a:spcPct val="125000"/>
              </a:lnSpc>
              <a:spcAft>
                <a:spcPts val="1200"/>
              </a:spcAft>
              <a:defRPr sz="1750">
                <a:solidFill>
                  <a:srgbClr val="1E1E1E"/>
                </a:solidFill>
                <a:latin typeface="Times New Roman"/>
              </a:defRPr>
            </a:pPr>
            <a:r>
              <a:t>•   Calibrated Multi-Factor Risk Scoring: Prevents catastrophic false declines by evaluating historical spending deviations, velocity bursts, and hardware novelty independently of statistical probability.</a:t>
            </a:r>
          </a:p>
          <a:p>
            <a:pPr>
              <a:lnSpc>
                <a:spcPct val="125000"/>
              </a:lnSpc>
              <a:spcAft>
                <a:spcPts val="1200"/>
              </a:spcAft>
              <a:defRPr sz="1750">
                <a:solidFill>
                  <a:srgbClr val="1E1E1E"/>
                </a:solidFill>
                <a:latin typeface="Times New Roman"/>
              </a:defRPr>
            </a:pPr>
            <a:r>
              <a:t>•   Regulatory Explainability Compliance: Implements exact game-theoretic TreeSHAP feature attributions that satisfy European Union GDPR Article 22 and Reserve Bank of India digital payment security directives.</a:t>
            </a:r>
          </a:p>
          <a:p>
            <a:pPr>
              <a:lnSpc>
                <a:spcPct val="125000"/>
              </a:lnSpc>
              <a:spcAft>
                <a:spcPts val="1200"/>
              </a:spcAft>
              <a:defRPr sz="1750">
                <a:solidFill>
                  <a:srgbClr val="1E1E1E"/>
                </a:solidFill>
                <a:latin typeface="Times New Roman"/>
              </a:defRPr>
            </a:pPr>
            <a:r>
              <a:t>•   Adaptive Step-Up SMS OTP Authentication: Features an interactive smartphone push challenge for review-tier transactions, allowing genuine cardholders to self-authorize without account freezing.</a:t>
            </a:r>
          </a:p>
          <a:p>
            <a:pPr>
              <a:lnSpc>
                <a:spcPct val="125000"/>
              </a:lnSpc>
              <a:spcAft>
                <a:spcPts val="1200"/>
              </a:spcAft>
              <a:defRPr sz="1750">
                <a:solidFill>
                  <a:srgbClr val="1E1E1E"/>
                </a:solidFill>
                <a:latin typeface="Times New Roman"/>
              </a:defRPr>
            </a:pPr>
            <a:r>
              <a:t>•   Autonomous Forensic Dossier Synthesis: Streamlines enterprise Security Operations Center (SOC) triage from 35 minutes to under 3 minutes via automated kill-chain topologies and regulatory SAR drafts.</a:t>
            </a:r>
          </a:p>
          <a:p>
            <a:pPr>
              <a:lnSpc>
                <a:spcPct val="125000"/>
              </a:lnSpc>
              <a:spcAft>
                <a:spcPts val="1200"/>
              </a:spcAft>
              <a:defRPr sz="1750">
                <a:solidFill>
                  <a:srgbClr val="1E1E1E"/>
                </a:solidFill>
                <a:latin typeface="Times New Roman"/>
              </a:defRPr>
            </a:pPr>
            <a:r>
              <a:t>•   Zero-Data-Leakage Architectural Rigor: Employs strict target leakage purging, role-based access control (RBAC), and an immutable cryptographic audit ledger to ensure systemic data integrity.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LITERATURE STUDY – I</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9</a:t>
            </a:r>
          </a:p>
        </p:txBody>
      </p:sp>
      <p:graphicFrame>
        <p:nvGraphicFramePr>
          <p:cNvPr id="6" name="Table 5"/>
          <p:cNvGraphicFramePr>
            <a:graphicFrameLocks noGrp="1"/>
          </p:cNvGraphicFramePr>
          <p:nvPr/>
        </p:nvGraphicFramePr>
        <p:xfrm>
          <a:off x="914400" y="1554480"/>
          <a:ext cx="10362895" cy="4297680"/>
        </p:xfrm>
        <a:graphic>
          <a:graphicData uri="http://schemas.openxmlformats.org/drawingml/2006/table">
            <a:tbl>
              <a:tblPr firstRow="1" bandRow="1">
                <a:tableStyleId>{5C22544A-7EE6-4342-B048-85BDC9FD1C3A}</a:tableStyleId>
              </a:tblPr>
              <a:tblGrid>
                <a:gridCol w="914400"/>
                <a:gridCol w="3962095"/>
                <a:gridCol w="5486400"/>
              </a:tblGrid>
              <a:tr h="1074420">
                <a:tc>
                  <a:txBody>
                    <a:bodyPr/>
                    <a:lstStyle/>
                    <a:p>
                      <a:pPr algn="ctr">
                        <a:defRPr sz="1400" b="1">
                          <a:solidFill>
                            <a:srgbClr val="FFFFFF"/>
                          </a:solidFill>
                          <a:latin typeface="Times New Roman"/>
                        </a:defRPr>
                      </a:pPr>
                      <a:r>
                        <a:t>S.No</a:t>
                      </a:r>
                    </a:p>
                  </a:txBody>
                  <a:tcPr anchor="ctr">
                    <a:solidFill>
                      <a:srgbClr val="2969B0"/>
                    </a:solidFill>
                  </a:tcPr>
                </a:tc>
                <a:tc>
                  <a:txBody>
                    <a:bodyPr/>
                    <a:lstStyle/>
                    <a:p>
                      <a:pPr algn="ctr">
                        <a:defRPr sz="1400" b="1">
                          <a:solidFill>
                            <a:srgbClr val="FFFFFF"/>
                          </a:solidFill>
                          <a:latin typeface="Times New Roman"/>
                        </a:defRPr>
                      </a:pPr>
                      <a:r>
                        <a:t>Paper Title &amp; Author Details</a:t>
                      </a:r>
                    </a:p>
                  </a:txBody>
                  <a:tcPr anchor="ctr">
                    <a:solidFill>
                      <a:srgbClr val="2969B0"/>
                    </a:solidFill>
                  </a:tcPr>
                </a:tc>
                <a:tc>
                  <a:txBody>
                    <a:bodyPr/>
                    <a:lstStyle/>
                    <a:p>
                      <a:pPr algn="ctr">
                        <a:defRPr sz="1400" b="1">
                          <a:solidFill>
                            <a:srgbClr val="FFFFFF"/>
                          </a:solidFill>
                          <a:latin typeface="Times New Roman"/>
                        </a:defRPr>
                      </a:pPr>
                      <a:r>
                        <a:t>Key Findings &amp; Observations</a:t>
                      </a:r>
                    </a:p>
                  </a:txBody>
                  <a:tcPr anchor="ctr">
                    <a:solidFill>
                      <a:srgbClr val="2969B0"/>
                    </a:solidFill>
                  </a:tcPr>
                </a:tc>
              </a:tr>
              <a:tr h="1074420">
                <a:tc>
                  <a:txBody>
                    <a:bodyPr/>
                    <a:lstStyle/>
                    <a:p>
                      <a:pPr algn="ctr">
                        <a:lnSpc>
                          <a:spcPct val="115000"/>
                        </a:lnSpc>
                        <a:defRPr sz="1300">
                          <a:solidFill>
                            <a:srgbClr val="1E1E1E"/>
                          </a:solidFill>
                          <a:latin typeface="Times New Roman"/>
                        </a:defRPr>
                      </a:pPr>
                      <a:r>
                        <a:t>1</a:t>
                      </a:r>
                    </a:p>
                  </a:txBody>
                  <a:tcPr anchor="ctr">
                    <a:solidFill>
                      <a:srgbClr val="F0F5FF"/>
                    </a:solidFill>
                  </a:tcPr>
                </a:tc>
                <a:tc>
                  <a:txBody>
                    <a:bodyPr/>
                    <a:lstStyle/>
                    <a:p>
                      <a:pPr algn="l">
                        <a:lnSpc>
                          <a:spcPct val="115000"/>
                        </a:lnSpc>
                        <a:defRPr sz="1300">
                          <a:solidFill>
                            <a:srgbClr val="1E1E1E"/>
                          </a:solidFill>
                          <a:latin typeface="Times New Roman"/>
                        </a:defRPr>
                      </a:pPr>
                      <a:r>
                        <a:t>Statistical Fraud Detection: A Review</a:t>
                      </a:r>
                      <a:br/>
                      <a:r>
                        <a:t>R. J. Bolton and D. J. Hand (2002)</a:t>
                      </a:r>
                      <a:br/>
                      <a:r>
                        <a:t>Statistical Science, Vol. 17, No. 3</a:t>
                      </a:r>
                    </a:p>
                  </a:txBody>
                  <a:tcPr anchor="ctr">
                    <a:solidFill>
                      <a:srgbClr val="F0F5FF"/>
                    </a:solidFill>
                  </a:tcPr>
                </a:tc>
                <a:tc>
                  <a:txBody>
                    <a:bodyPr/>
                    <a:lstStyle/>
                    <a:p>
                      <a:pPr algn="l">
                        <a:lnSpc>
                          <a:spcPct val="115000"/>
                        </a:lnSpc>
                        <a:defRPr sz="1300">
                          <a:solidFill>
                            <a:srgbClr val="1E1E1E"/>
                          </a:solidFill>
                          <a:latin typeface="Times New Roman"/>
                        </a:defRPr>
                      </a:pPr>
                      <a:r>
                        <a:t>Introduced Breakpoint and Peer Group Analysis to detect behavioral shifts in credit card accounts without labeled fraud data. Found that unsupervised methods suffer from high false alarm rates due to natural spending volatility, motivating FraudLens AI's supervised multi-factor scoring approach.</a:t>
                      </a:r>
                    </a:p>
                  </a:txBody>
                  <a:tcPr anchor="ctr">
                    <a:solidFill>
                      <a:srgbClr val="F0F5FF"/>
                    </a:solidFill>
                  </a:tcPr>
                </a:tc>
              </a:tr>
              <a:tr h="1074420">
                <a:tc>
                  <a:txBody>
                    <a:bodyPr/>
                    <a:lstStyle/>
                    <a:p>
                      <a:pPr algn="ctr">
                        <a:lnSpc>
                          <a:spcPct val="115000"/>
                        </a:lnSpc>
                        <a:defRPr sz="1300">
                          <a:solidFill>
                            <a:srgbClr val="1E1E1E"/>
                          </a:solidFill>
                          <a:latin typeface="Times New Roman"/>
                        </a:defRPr>
                      </a:pPr>
                      <a:r>
                        <a:t>2</a:t>
                      </a:r>
                    </a:p>
                  </a:txBody>
                  <a:tcPr anchor="ctr">
                    <a:solidFill>
                      <a:srgbClr val="FFFFFF"/>
                    </a:solidFill>
                  </a:tcPr>
                </a:tc>
                <a:tc>
                  <a:txBody>
                    <a:bodyPr/>
                    <a:lstStyle/>
                    <a:p>
                      <a:pPr algn="l">
                        <a:lnSpc>
                          <a:spcPct val="115000"/>
                        </a:lnSpc>
                        <a:defRPr sz="1300">
                          <a:solidFill>
                            <a:srgbClr val="1E1E1E"/>
                          </a:solidFill>
                          <a:latin typeface="Times New Roman"/>
                        </a:defRPr>
                      </a:pPr>
                      <a:r>
                        <a:t>A Comprehensive Survey of Data Mining-Based Fraud Detection Research</a:t>
                      </a:r>
                      <a:br/>
                      <a:r>
                        <a:t>C. Phua, V. Lee, K. Smith, and R. Gayler (2010)</a:t>
                      </a:r>
                      <a:br/>
                      <a:r>
                        <a:t>arXiv:1009.6119</a:t>
                      </a:r>
                    </a:p>
                  </a:txBody>
                  <a:tcPr anchor="ctr">
                    <a:solidFill>
                      <a:srgbClr val="FFFFFF"/>
                    </a:solidFill>
                  </a:tcPr>
                </a:tc>
                <a:tc>
                  <a:txBody>
                    <a:bodyPr/>
                    <a:lstStyle/>
                    <a:p>
                      <a:pPr algn="l">
                        <a:lnSpc>
                          <a:spcPct val="115000"/>
                        </a:lnSpc>
                        <a:defRPr sz="1300">
                          <a:solidFill>
                            <a:srgbClr val="1E1E1E"/>
                          </a:solidFill>
                          <a:latin typeface="Times New Roman"/>
                        </a:defRPr>
                      </a:pPr>
                      <a:r>
                        <a:t>Surveyed supervised data mining algorithms across retail banking. Established that acute class imbalance (&lt; 1% fraud prevalence) is the single greatest impediment to classifier convergence, directly informing FraudLens AI's scale_pos_weight calibration and balanced bagging strategy.</a:t>
                      </a:r>
                    </a:p>
                  </a:txBody>
                  <a:tcPr anchor="ctr">
                    <a:solidFill>
                      <a:srgbClr val="FFFFFF"/>
                    </a:solidFill>
                  </a:tcPr>
                </a:tc>
              </a:tr>
              <a:tr h="1074420">
                <a:tc>
                  <a:txBody>
                    <a:bodyPr/>
                    <a:lstStyle/>
                    <a:p>
                      <a:pPr algn="ctr">
                        <a:lnSpc>
                          <a:spcPct val="115000"/>
                        </a:lnSpc>
                        <a:defRPr sz="1300">
                          <a:solidFill>
                            <a:srgbClr val="1E1E1E"/>
                          </a:solidFill>
                          <a:latin typeface="Times New Roman"/>
                        </a:defRPr>
                      </a:pPr>
                      <a:r>
                        <a:t>3</a:t>
                      </a:r>
                    </a:p>
                  </a:txBody>
                  <a:tcPr anchor="ctr">
                    <a:solidFill>
                      <a:srgbClr val="F0F5FF"/>
                    </a:solidFill>
                  </a:tcPr>
                </a:tc>
                <a:tc>
                  <a:txBody>
                    <a:bodyPr/>
                    <a:lstStyle/>
                    <a:p>
                      <a:pPr algn="l">
                        <a:lnSpc>
                          <a:spcPct val="115000"/>
                        </a:lnSpc>
                        <a:defRPr sz="1300">
                          <a:solidFill>
                            <a:srgbClr val="1E1E1E"/>
                          </a:solidFill>
                          <a:latin typeface="Times New Roman"/>
                        </a:defRPr>
                      </a:pPr>
                      <a:r>
                        <a:t>Credit Card Fraud Detection: A Realistic Modeling &amp; Novel Learning Strategy</a:t>
                      </a:r>
                      <a:br/>
                      <a:r>
                        <a:t>A. Dal Pozzolo, G. Boracchi, O. Caelen, et al. (2018)</a:t>
                      </a:r>
                      <a:br/>
                      <a:r>
                        <a:t>IEEE Transactions on Neural Networks, Vol. 29</a:t>
                      </a:r>
                    </a:p>
                  </a:txBody>
                  <a:tcPr anchor="ctr">
                    <a:solidFill>
                      <a:srgbClr val="F0F5FF"/>
                    </a:solidFill>
                  </a:tcPr>
                </a:tc>
                <a:tc>
                  <a:txBody>
                    <a:bodyPr/>
                    <a:lstStyle/>
                    <a:p>
                      <a:pPr algn="l">
                        <a:lnSpc>
                          <a:spcPct val="115000"/>
                        </a:lnSpc>
                        <a:defRPr sz="1300">
                          <a:solidFill>
                            <a:srgbClr val="1E1E1E"/>
                          </a:solidFill>
                          <a:latin typeface="Times New Roman"/>
                        </a:defRPr>
                      </a:pPr>
                      <a:r>
                        <a:t>Formalized verification latency and non-stationary concept drift in streaming card transactions. Proved that ensemble combinations of bagging and boosting stabilize decision boundaries over time, guiding the stacking meta-ensemble architecture in FraudLens AI.</a:t>
                      </a:r>
                    </a:p>
                  </a:txBody>
                  <a:tcPr anchor="ctr">
                    <a:solidFill>
                      <a:srgbClr val="F0F5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LITERATURE STUDY – II</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10</a:t>
            </a:r>
          </a:p>
        </p:txBody>
      </p:sp>
      <p:graphicFrame>
        <p:nvGraphicFramePr>
          <p:cNvPr id="6" name="Table 5"/>
          <p:cNvGraphicFramePr>
            <a:graphicFrameLocks noGrp="1"/>
          </p:cNvGraphicFramePr>
          <p:nvPr/>
        </p:nvGraphicFramePr>
        <p:xfrm>
          <a:off x="914400" y="1463040"/>
          <a:ext cx="10362895" cy="2651760"/>
        </p:xfrm>
        <a:graphic>
          <a:graphicData uri="http://schemas.openxmlformats.org/drawingml/2006/table">
            <a:tbl>
              <a:tblPr firstRow="1" bandRow="1">
                <a:tableStyleId>{5C22544A-7EE6-4342-B048-85BDC9FD1C3A}</a:tableStyleId>
              </a:tblPr>
              <a:tblGrid>
                <a:gridCol w="914400"/>
                <a:gridCol w="3962095"/>
                <a:gridCol w="5486400"/>
              </a:tblGrid>
              <a:tr h="883920">
                <a:tc>
                  <a:txBody>
                    <a:bodyPr/>
                    <a:lstStyle/>
                    <a:p>
                      <a:pPr algn="ctr">
                        <a:defRPr sz="1400" b="1">
                          <a:solidFill>
                            <a:srgbClr val="FFFFFF"/>
                          </a:solidFill>
                          <a:latin typeface="Times New Roman"/>
                        </a:defRPr>
                      </a:pPr>
                      <a:r>
                        <a:t>S.No</a:t>
                      </a:r>
                    </a:p>
                  </a:txBody>
                  <a:tcPr anchor="ctr">
                    <a:solidFill>
                      <a:srgbClr val="2969B0"/>
                    </a:solidFill>
                  </a:tcPr>
                </a:tc>
                <a:tc>
                  <a:txBody>
                    <a:bodyPr/>
                    <a:lstStyle/>
                    <a:p>
                      <a:pPr algn="ctr">
                        <a:defRPr sz="1400" b="1">
                          <a:solidFill>
                            <a:srgbClr val="FFFFFF"/>
                          </a:solidFill>
                          <a:latin typeface="Times New Roman"/>
                        </a:defRPr>
                      </a:pPr>
                      <a:r>
                        <a:t>Paper Title &amp; Author Details</a:t>
                      </a:r>
                    </a:p>
                  </a:txBody>
                  <a:tcPr anchor="ctr">
                    <a:solidFill>
                      <a:srgbClr val="2969B0"/>
                    </a:solidFill>
                  </a:tcPr>
                </a:tc>
                <a:tc>
                  <a:txBody>
                    <a:bodyPr/>
                    <a:lstStyle/>
                    <a:p>
                      <a:pPr algn="ctr">
                        <a:defRPr sz="1400" b="1">
                          <a:solidFill>
                            <a:srgbClr val="FFFFFF"/>
                          </a:solidFill>
                          <a:latin typeface="Times New Roman"/>
                        </a:defRPr>
                      </a:pPr>
                      <a:r>
                        <a:t>Key Findings &amp; Observations</a:t>
                      </a:r>
                    </a:p>
                  </a:txBody>
                  <a:tcPr anchor="ctr">
                    <a:solidFill>
                      <a:srgbClr val="2969B0"/>
                    </a:solidFill>
                  </a:tcPr>
                </a:tc>
              </a:tr>
              <a:tr h="883920">
                <a:tc>
                  <a:txBody>
                    <a:bodyPr/>
                    <a:lstStyle/>
                    <a:p>
                      <a:pPr algn="ctr">
                        <a:lnSpc>
                          <a:spcPct val="115000"/>
                        </a:lnSpc>
                        <a:defRPr sz="1250">
                          <a:solidFill>
                            <a:srgbClr val="1E1E1E"/>
                          </a:solidFill>
                          <a:latin typeface="Times New Roman"/>
                        </a:defRPr>
                      </a:pPr>
                      <a:r>
                        <a:t>4</a:t>
                      </a:r>
                    </a:p>
                  </a:txBody>
                  <a:tcPr anchor="ctr">
                    <a:solidFill>
                      <a:srgbClr val="F0F5FF"/>
                    </a:solidFill>
                  </a:tcPr>
                </a:tc>
                <a:tc>
                  <a:txBody>
                    <a:bodyPr/>
                    <a:lstStyle/>
                    <a:p>
                      <a:pPr algn="l">
                        <a:lnSpc>
                          <a:spcPct val="115000"/>
                        </a:lnSpc>
                        <a:defRPr sz="1250">
                          <a:solidFill>
                            <a:srgbClr val="1E1E1E"/>
                          </a:solidFill>
                          <a:latin typeface="Times New Roman"/>
                        </a:defRPr>
                      </a:pPr>
                      <a:r>
                        <a:t>XGBoost: A Scalable Tree Boosting System</a:t>
                      </a:r>
                      <a:br/>
                      <a:r>
                        <a:t>T. Chen and C. Guestrin (2016)</a:t>
                      </a:r>
                      <a:br/>
                      <a:r>
                        <a:t>ACM SIGKDD International Conference</a:t>
                      </a:r>
                    </a:p>
                  </a:txBody>
                  <a:tcPr anchor="ctr">
                    <a:solidFill>
                      <a:srgbClr val="F0F5FF"/>
                    </a:solidFill>
                  </a:tcPr>
                </a:tc>
                <a:tc>
                  <a:txBody>
                    <a:bodyPr/>
                    <a:lstStyle/>
                    <a:p>
                      <a:pPr algn="l">
                        <a:lnSpc>
                          <a:spcPct val="115000"/>
                        </a:lnSpc>
                        <a:defRPr sz="1250">
                          <a:solidFill>
                            <a:srgbClr val="1E1E1E"/>
                          </a:solidFill>
                          <a:latin typeface="Times New Roman"/>
                        </a:defRPr>
                      </a:pPr>
                      <a:r>
                        <a:t>Demonstrated that extreme gradient boosted trees optimizing second-order Taylor approximations outperform deep neural networks on tabular financial data, while embedded scale_pos_weight parameters effectively counter extreme class imbalance.</a:t>
                      </a:r>
                    </a:p>
                  </a:txBody>
                  <a:tcPr anchor="ctr">
                    <a:solidFill>
                      <a:srgbClr val="F0F5FF"/>
                    </a:solidFill>
                  </a:tcPr>
                </a:tc>
              </a:tr>
              <a:tr h="883920">
                <a:tc>
                  <a:txBody>
                    <a:bodyPr/>
                    <a:lstStyle/>
                    <a:p>
                      <a:pPr algn="ctr">
                        <a:lnSpc>
                          <a:spcPct val="115000"/>
                        </a:lnSpc>
                        <a:defRPr sz="1250">
                          <a:solidFill>
                            <a:srgbClr val="1E1E1E"/>
                          </a:solidFill>
                          <a:latin typeface="Times New Roman"/>
                        </a:defRPr>
                      </a:pPr>
                      <a:r>
                        <a:t>5</a:t>
                      </a:r>
                    </a:p>
                  </a:txBody>
                  <a:tcPr anchor="ctr">
                    <a:solidFill>
                      <a:srgbClr val="FFFFFF"/>
                    </a:solidFill>
                  </a:tcPr>
                </a:tc>
                <a:tc>
                  <a:txBody>
                    <a:bodyPr/>
                    <a:lstStyle/>
                    <a:p>
                      <a:pPr algn="l">
                        <a:lnSpc>
                          <a:spcPct val="115000"/>
                        </a:lnSpc>
                        <a:defRPr sz="1250">
                          <a:solidFill>
                            <a:srgbClr val="1E1E1E"/>
                          </a:solidFill>
                          <a:latin typeface="Times New Roman"/>
                        </a:defRPr>
                      </a:pPr>
                      <a:r>
                        <a:t>From Local Explanations to Global Understanding with Explainable AI for Trees</a:t>
                      </a:r>
                      <a:br/>
                      <a:r>
                        <a:t>S. M. Lundberg, G. G. Erion, et al. (2020)</a:t>
                      </a:r>
                      <a:br/>
                      <a:r>
                        <a:t>Nature Machine Intelligence, Vol. 2</a:t>
                      </a:r>
                    </a:p>
                  </a:txBody>
                  <a:tcPr anchor="ctr">
                    <a:solidFill>
                      <a:srgbClr val="FFFFFF"/>
                    </a:solidFill>
                  </a:tcPr>
                </a:tc>
                <a:tc>
                  <a:txBody>
                    <a:bodyPr/>
                    <a:lstStyle/>
                    <a:p>
                      <a:pPr algn="l">
                        <a:lnSpc>
                          <a:spcPct val="115000"/>
                        </a:lnSpc>
                        <a:defRPr sz="1250">
                          <a:solidFill>
                            <a:srgbClr val="1E1E1E"/>
                          </a:solidFill>
                          <a:latin typeface="Times New Roman"/>
                        </a:defRPr>
                      </a:pPr>
                      <a:r>
                        <a:t>Formulated TreeSHAP, reducing exact Shapley attribution computation complexity from exponential O(TL2^M) to polynomial time O(TLD^2), rendering real-time game-theoretic feature attribution feasible for low-latency payment processing.</a:t>
                      </a:r>
                    </a:p>
                  </a:txBody>
                  <a:tcPr anchor="ctr">
                    <a:solidFill>
                      <a:srgbClr val="FFFFFF"/>
                    </a:solidFill>
                  </a:tcPr>
                </a:tc>
              </a:tr>
            </a:tbl>
          </a:graphicData>
        </a:graphic>
      </p:graphicFrame>
      <p:sp>
        <p:nvSpPr>
          <p:cNvPr id="7" name="Rounded Rectangle 6"/>
          <p:cNvSpPr/>
          <p:nvPr/>
        </p:nvSpPr>
        <p:spPr>
          <a:xfrm>
            <a:off x="914400" y="4343400"/>
            <a:ext cx="10362895" cy="1645920"/>
          </a:xfrm>
          <a:prstGeom prst="roundRect">
            <a:avLst/>
          </a:prstGeom>
          <a:solidFill>
            <a:srgbClr val="FEF9C3"/>
          </a:solidFill>
          <a:ln w="19050">
            <a:solidFill>
              <a:srgbClr val="CA8A0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400" b="1">
                <a:solidFill>
                  <a:srgbClr val="92400E"/>
                </a:solidFill>
                <a:latin typeface="Times New Roman"/>
              </a:defRPr>
            </a:pPr>
            <a:r>
              <a:t>IDENTIFIED RESEARCH GAP &amp; MOTIVATION:</a:t>
            </a:r>
          </a:p>
          <a:p>
            <a:pPr>
              <a:lnSpc>
                <a:spcPct val="115000"/>
              </a:lnSpc>
              <a:spcBef>
                <a:spcPts val="300"/>
              </a:spcBef>
              <a:defRPr sz="1250">
                <a:solidFill>
                  <a:srgbClr val="1E1E1E"/>
                </a:solidFill>
                <a:latin typeface="Times New Roman"/>
              </a:defRPr>
            </a:pPr>
            <a:r>
              <a:t>•   Research Gap: Extant literature isolates ML classification from operational risk scoring, treats SHAP as an offline diagnostic post-mortem, and lacks integrated adaptive step-up verification and automated forensic case management.</a:t>
            </a:r>
          </a:p>
          <a:p>
            <a:pPr>
              <a:lnSpc>
                <a:spcPct val="115000"/>
              </a:lnSpc>
              <a:spcBef>
                <a:spcPts val="300"/>
              </a:spcBef>
              <a:defRPr sz="1250">
                <a:solidFill>
                  <a:srgbClr val="1E1E1E"/>
                </a:solidFill>
                <a:latin typeface="Times New Roman"/>
              </a:defRPr>
            </a:pPr>
            <a:r>
              <a:t>•   FraudLens AI Contribution: Unifies high-performance XGBoost inference + decoupled 0–100 multi-factor risk scoring + sub-4ms TreeSHAP explainability + adaptive smartphone SMS OTP + GenAI case dossier synthesis into a single operational platform.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SYSTEM SPECIFICATION</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11</a:t>
            </a:r>
          </a:p>
        </p:txBody>
      </p:sp>
      <p:sp>
        <p:nvSpPr>
          <p:cNvPr id="6" name="Rounded Rectangle 5"/>
          <p:cNvSpPr/>
          <p:nvPr/>
        </p:nvSpPr>
        <p:spPr>
          <a:xfrm>
            <a:off x="914400" y="1554480"/>
            <a:ext cx="4983480" cy="4389120"/>
          </a:xfrm>
          <a:prstGeom prst="roundRect">
            <a:avLst/>
          </a:prstGeom>
          <a:solidFill>
            <a:srgbClr val="F8FA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1200"/>
              </a:spcAft>
              <a:defRPr sz="1800" b="1">
                <a:solidFill>
                  <a:srgbClr val="002060"/>
                </a:solidFill>
                <a:latin typeface="Times New Roman"/>
              </a:defRPr>
            </a:pPr>
            <a:r>
              <a:t>HARDWARE REQUIREMENTS</a:t>
            </a:r>
          </a:p>
          <a:p>
            <a:pPr>
              <a:lnSpc>
                <a:spcPct val="120000"/>
              </a:lnSpc>
              <a:spcAft>
                <a:spcPts val="1000"/>
              </a:spcAft>
              <a:defRPr sz="1400">
                <a:solidFill>
                  <a:srgbClr val="1E1E1E"/>
                </a:solidFill>
                <a:latin typeface="Times New Roman"/>
              </a:defRPr>
            </a:pPr>
            <a:r>
              <a:t>•   Processor (CPU):  Intel Core i5 / AMD Ryzen 5 or higher (Recommended: 8-Core Intel i7 / Xeon)</a:t>
            </a:r>
          </a:p>
          <a:p>
            <a:pPr>
              <a:lnSpc>
                <a:spcPct val="120000"/>
              </a:lnSpc>
              <a:spcAft>
                <a:spcPts val="1000"/>
              </a:spcAft>
              <a:defRPr sz="1400">
                <a:solidFill>
                  <a:srgbClr val="1E1E1E"/>
                </a:solidFill>
                <a:latin typeface="Times New Roman"/>
              </a:defRPr>
            </a:pPr>
            <a:r>
              <a:t>•   System Memory (RAM):  8 GB DDR4 minimum (16 GB DDR4/DDR5 recommended for ML model training)</a:t>
            </a:r>
          </a:p>
          <a:p>
            <a:pPr>
              <a:lnSpc>
                <a:spcPct val="120000"/>
              </a:lnSpc>
              <a:spcAft>
                <a:spcPts val="1000"/>
              </a:spcAft>
              <a:defRPr sz="1400">
                <a:solidFill>
                  <a:srgbClr val="1E1E1E"/>
                </a:solidFill>
                <a:latin typeface="Times New Roman"/>
              </a:defRPr>
            </a:pPr>
            <a:r>
              <a:t>•   Storage Drive:  256 GB SATA SSD minimum (512 GB NVMe M.2 SSD recommended)</a:t>
            </a:r>
          </a:p>
          <a:p>
            <a:pPr>
              <a:lnSpc>
                <a:spcPct val="120000"/>
              </a:lnSpc>
              <a:spcAft>
                <a:spcPts val="1000"/>
              </a:spcAft>
              <a:defRPr sz="1400">
                <a:solidFill>
                  <a:srgbClr val="1E1E1E"/>
                </a:solidFill>
                <a:latin typeface="Times New Roman"/>
              </a:defRPr>
            </a:pPr>
            <a:r>
              <a:t>•   Network Interface:  100 Mbps Ethernet / Wi-Fi broadband network connectivity</a:t>
            </a:r>
          </a:p>
          <a:p>
            <a:pPr>
              <a:lnSpc>
                <a:spcPct val="120000"/>
              </a:lnSpc>
              <a:spcAft>
                <a:spcPts val="1000"/>
              </a:spcAft>
              <a:defRPr sz="1400">
                <a:solidFill>
                  <a:srgbClr val="1E1E1E"/>
                </a:solidFill>
                <a:latin typeface="Times New Roman"/>
              </a:defRPr>
            </a:pPr>
            <a:r>
              <a:t>•   Display Resolution:  1366 × 768 minimum (1920 × 1080 Full HD recommended for Command Center)</a:t>
            </a:r>
          </a:p>
        </p:txBody>
      </p:sp>
      <p:sp>
        <p:nvSpPr>
          <p:cNvPr id="7" name="Rounded Rectangle 6"/>
          <p:cNvSpPr/>
          <p:nvPr/>
        </p:nvSpPr>
        <p:spPr>
          <a:xfrm>
            <a:off x="6293815" y="1554480"/>
            <a:ext cx="4983480" cy="4389120"/>
          </a:xfrm>
          <a:prstGeom prst="roundRect">
            <a:avLst/>
          </a:prstGeom>
          <a:solidFill>
            <a:srgbClr val="F8FA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1200"/>
              </a:spcAft>
              <a:defRPr sz="1800" b="1">
                <a:solidFill>
                  <a:srgbClr val="002060"/>
                </a:solidFill>
                <a:latin typeface="Times New Roman"/>
              </a:defRPr>
            </a:pPr>
            <a:r>
              <a:t>SOFTWARE REQUIREMENTS</a:t>
            </a:r>
          </a:p>
          <a:p>
            <a:pPr>
              <a:lnSpc>
                <a:spcPct val="115000"/>
              </a:lnSpc>
              <a:spcAft>
                <a:spcPts val="800"/>
              </a:spcAft>
              <a:defRPr sz="1350">
                <a:solidFill>
                  <a:srgbClr val="1E1E1E"/>
                </a:solidFill>
                <a:latin typeface="Times New Roman"/>
              </a:defRPr>
            </a:pPr>
            <a:r>
              <a:t>•   Operating System:  Microsoft Windows 10/11 64-bit or Ubuntu 22.04 LTS Linux</a:t>
            </a:r>
          </a:p>
          <a:p>
            <a:pPr>
              <a:lnSpc>
                <a:spcPct val="115000"/>
              </a:lnSpc>
              <a:spcAft>
                <a:spcPts val="800"/>
              </a:spcAft>
              <a:defRPr sz="1350">
                <a:solidFill>
                  <a:srgbClr val="1E1E1E"/>
                </a:solidFill>
                <a:latin typeface="Times New Roman"/>
              </a:defRPr>
            </a:pPr>
            <a:r>
              <a:t>•   Programming Language:  Python 3.11+ (Backend / ML) &amp; Node.js 20+ (Frontend)</a:t>
            </a:r>
          </a:p>
          <a:p>
            <a:pPr>
              <a:lnSpc>
                <a:spcPct val="115000"/>
              </a:lnSpc>
              <a:spcAft>
                <a:spcPts val="800"/>
              </a:spcAft>
              <a:defRPr sz="1350">
                <a:solidFill>
                  <a:srgbClr val="1E1E1E"/>
                </a:solidFill>
                <a:latin typeface="Times New Roman"/>
              </a:defRPr>
            </a:pPr>
            <a:r>
              <a:t>•   Backend Web Framework:  FastAPI v0.115+ (Starlette + Pydantic v2) with Uvicorn ASGI</a:t>
            </a:r>
          </a:p>
          <a:p>
            <a:pPr>
              <a:lnSpc>
                <a:spcPct val="115000"/>
              </a:lnSpc>
              <a:spcAft>
                <a:spcPts val="800"/>
              </a:spcAft>
              <a:defRPr sz="1350">
                <a:solidFill>
                  <a:srgbClr val="1E1E1E"/>
                </a:solidFill>
                <a:latin typeface="Times New Roman"/>
              </a:defRPr>
            </a:pPr>
            <a:r>
              <a:t>•   Machine Learning Core:  Scikit-Learn v1.5+, XGBoost v2.1+, Joblib v1.4+</a:t>
            </a:r>
          </a:p>
          <a:p>
            <a:pPr>
              <a:lnSpc>
                <a:spcPct val="115000"/>
              </a:lnSpc>
              <a:spcAft>
                <a:spcPts val="800"/>
              </a:spcAft>
              <a:defRPr sz="1350">
                <a:solidFill>
                  <a:srgbClr val="1E1E1E"/>
                </a:solidFill>
                <a:latin typeface="Times New Roman"/>
              </a:defRPr>
            </a:pPr>
            <a:r>
              <a:t>•   Explainable AI (XAI):  SHAP v0.46+ (TreeSHAP &amp; LinearSHAP algorithms)</a:t>
            </a:r>
          </a:p>
          <a:p>
            <a:pPr>
              <a:lnSpc>
                <a:spcPct val="115000"/>
              </a:lnSpc>
              <a:spcAft>
                <a:spcPts val="800"/>
              </a:spcAft>
              <a:defRPr sz="1350">
                <a:solidFill>
                  <a:srgbClr val="1E1E1E"/>
                </a:solidFill>
                <a:latin typeface="Times New Roman"/>
              </a:defRPr>
            </a:pPr>
            <a:r>
              <a:t>•   Database &amp; ORM:  SQLite 3 (WAL Mode enabled) &amp; SQLAlchemy 2.0+ ORM</a:t>
            </a:r>
          </a:p>
          <a:p>
            <a:pPr>
              <a:lnSpc>
                <a:spcPct val="115000"/>
              </a:lnSpc>
              <a:spcAft>
                <a:spcPts val="800"/>
              </a:spcAft>
              <a:defRPr sz="1350">
                <a:solidFill>
                  <a:srgbClr val="1E1E1E"/>
                </a:solidFill>
                <a:latin typeface="Times New Roman"/>
              </a:defRPr>
            </a:pPr>
            <a:r>
              <a:t>•   Frontend Technologies:  React 18 SPA, Vite, Vanilla CSS, Lucide Icons, Recharts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SYSTEM DESIGN</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12</a:t>
            </a:r>
          </a:p>
        </p:txBody>
      </p:sp>
      <p:pic>
        <p:nvPicPr>
          <p:cNvPr id="6" name="Picture 5" descr="fig_5_1_system_architecture.png"/>
          <p:cNvPicPr>
            <a:picLocks noChangeAspect="1"/>
          </p:cNvPicPr>
          <p:nvPr/>
        </p:nvPicPr>
        <p:blipFill>
          <a:blip r:embed="rId2"/>
          <a:stretch>
            <a:fillRect/>
          </a:stretch>
        </p:blipFill>
        <p:spPr>
          <a:xfrm>
            <a:off x="731520" y="1371600"/>
            <a:ext cx="6583680" cy="4139633"/>
          </a:xfrm>
          <a:prstGeom prst="rect">
            <a:avLst/>
          </a:prstGeom>
        </p:spPr>
      </p:pic>
      <p:sp>
        <p:nvSpPr>
          <p:cNvPr id="7" name="TextBox 6"/>
          <p:cNvSpPr txBox="1"/>
          <p:nvPr/>
        </p:nvSpPr>
        <p:spPr>
          <a:xfrm>
            <a:off x="7498079" y="1371600"/>
            <a:ext cx="3962095" cy="4572000"/>
          </a:xfrm>
          <a:prstGeom prst="rect">
            <a:avLst/>
          </a:prstGeom>
          <a:noFill/>
        </p:spPr>
        <p:txBody>
          <a:bodyPr wrap="square">
            <a:spAutoFit/>
          </a:bodyPr>
          <a:lstStyle/>
          <a:p>
            <a:pPr>
              <a:spcAft>
                <a:spcPts val="1000"/>
              </a:spcAft>
              <a:defRPr sz="1700" b="1">
                <a:solidFill>
                  <a:srgbClr val="002060"/>
                </a:solidFill>
                <a:latin typeface="Times New Roman"/>
              </a:defRPr>
            </a:pPr>
            <a:r>
              <a:t>MULTI-TIER ARCHITECTURE:</a:t>
            </a:r>
          </a:p>
          <a:p>
            <a:pPr>
              <a:lnSpc>
                <a:spcPct val="115000"/>
              </a:lnSpc>
              <a:spcAft>
                <a:spcPts val="800"/>
              </a:spcAft>
              <a:defRPr sz="1300">
                <a:solidFill>
                  <a:srgbClr val="1E1E1E"/>
                </a:solidFill>
                <a:latin typeface="Times New Roman"/>
              </a:defRPr>
            </a:pPr>
            <a:r>
              <a:t>•   Presentation Tier: React 18 SPA offering Pre-Auth Payment Gateway, Command Center Radar, Case Docket Hub, and Model Lab.</a:t>
            </a:r>
          </a:p>
          <a:p>
            <a:pPr>
              <a:lnSpc>
                <a:spcPct val="115000"/>
              </a:lnSpc>
              <a:spcAft>
                <a:spcPts val="800"/>
              </a:spcAft>
              <a:defRPr sz="1300">
                <a:solidFill>
                  <a:srgbClr val="1E1E1E"/>
                </a:solidFill>
                <a:latin typeface="Times New Roman"/>
              </a:defRPr>
            </a:pPr>
            <a:r>
              <a:t>•   API Gateway &amp; Security: FastAPI asynchronous gateway with OAuth2/JWT token verification, RBAC scopes, idempotency checks, and WebSocket streams.</a:t>
            </a:r>
          </a:p>
          <a:p>
            <a:pPr>
              <a:lnSpc>
                <a:spcPct val="115000"/>
              </a:lnSpc>
              <a:spcAft>
                <a:spcPts val="800"/>
              </a:spcAft>
              <a:defRPr sz="1300">
                <a:solidFill>
                  <a:srgbClr val="1E1E1E"/>
                </a:solidFill>
                <a:latin typeface="Times New Roman"/>
              </a:defRPr>
            </a:pPr>
            <a:r>
              <a:t>•   Pre-Auth &amp; Orchestration: RiskDecisionOrchestrator coordinating balance verification, customer profiling, and 3-tier gatekeeper dispatch.</a:t>
            </a:r>
          </a:p>
          <a:p>
            <a:pPr>
              <a:lnSpc>
                <a:spcPct val="115000"/>
              </a:lnSpc>
              <a:spcAft>
                <a:spcPts val="800"/>
              </a:spcAft>
              <a:defRPr sz="1300">
                <a:solidFill>
                  <a:srgbClr val="1E1E1E"/>
                </a:solidFill>
                <a:latin typeface="Times New Roman"/>
              </a:defRPr>
            </a:pPr>
            <a:r>
              <a:t>•   ML &amp; Explainability Core: Standardized FullFraudPreprocessor, tuned XGBoost inference, and sub-4ms TreeSHAP feature attribution.</a:t>
            </a:r>
          </a:p>
          <a:p>
            <a:pPr>
              <a:lnSpc>
                <a:spcPct val="115000"/>
              </a:lnSpc>
              <a:spcAft>
                <a:spcPts val="800"/>
              </a:spcAft>
              <a:defRPr sz="1300">
                <a:solidFill>
                  <a:srgbClr val="1E1E1E"/>
                </a:solidFill>
                <a:latin typeface="Times New Roman"/>
              </a:defRPr>
            </a:pPr>
            <a:r>
              <a:t>•   Persistence &amp; GenAI Fabric: SQLite 3 (20 relational tables), immutable cryptographic audit ledger, and AI Forensic Copilot.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SYSTEM WORKFLOW</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13</a:t>
            </a:r>
          </a:p>
        </p:txBody>
      </p:sp>
      <p:pic>
        <p:nvPicPr>
          <p:cNvPr id="6" name="Picture 5" descr="fig_5_4_flow_diagram.png"/>
          <p:cNvPicPr>
            <a:picLocks noChangeAspect="1"/>
          </p:cNvPicPr>
          <p:nvPr/>
        </p:nvPicPr>
        <p:blipFill>
          <a:blip r:embed="rId2"/>
          <a:stretch>
            <a:fillRect/>
          </a:stretch>
        </p:blipFill>
        <p:spPr>
          <a:xfrm>
            <a:off x="731520" y="1371600"/>
            <a:ext cx="6583680" cy="5266944"/>
          </a:xfrm>
          <a:prstGeom prst="rect">
            <a:avLst/>
          </a:prstGeom>
        </p:spPr>
      </p:pic>
      <p:sp>
        <p:nvSpPr>
          <p:cNvPr id="7" name="TextBox 6"/>
          <p:cNvSpPr txBox="1"/>
          <p:nvPr/>
        </p:nvSpPr>
        <p:spPr>
          <a:xfrm>
            <a:off x="7498079" y="1371600"/>
            <a:ext cx="3962095" cy="4572000"/>
          </a:xfrm>
          <a:prstGeom prst="rect">
            <a:avLst/>
          </a:prstGeom>
          <a:noFill/>
        </p:spPr>
        <p:txBody>
          <a:bodyPr wrap="square">
            <a:spAutoFit/>
          </a:bodyPr>
          <a:lstStyle/>
          <a:p>
            <a:pPr>
              <a:spcAft>
                <a:spcPts val="1000"/>
              </a:spcAft>
              <a:defRPr sz="1700" b="1">
                <a:solidFill>
                  <a:srgbClr val="002060"/>
                </a:solidFill>
                <a:latin typeface="Times New Roman"/>
              </a:defRPr>
            </a:pPr>
            <a:r>
              <a:t>END-TO-END FLOW SEQUENCE:</a:t>
            </a:r>
          </a:p>
          <a:p>
            <a:pPr>
              <a:lnSpc>
                <a:spcPct val="115000"/>
              </a:lnSpc>
              <a:spcAft>
                <a:spcPts val="600"/>
              </a:spcAft>
              <a:defRPr sz="1250">
                <a:solidFill>
                  <a:srgbClr val="1E1E1E"/>
                </a:solidFill>
                <a:latin typeface="Times New Roman"/>
              </a:defRPr>
            </a:pPr>
            <a:r>
              <a:t>•   1. Transaction Initiation: Client submits payment intent (Amount, Merchant ID, Device, Channel).</a:t>
            </a:r>
          </a:p>
          <a:p>
            <a:pPr>
              <a:lnSpc>
                <a:spcPct val="115000"/>
              </a:lnSpc>
              <a:spcAft>
                <a:spcPts val="600"/>
              </a:spcAft>
              <a:defRPr sz="1250">
                <a:solidFill>
                  <a:srgbClr val="1E1E1E"/>
                </a:solidFill>
                <a:latin typeface="Times New Roman"/>
              </a:defRPr>
            </a:pPr>
            <a:r>
              <a:t>•   2. Idempotency &amp; Balance Check: Validates SHA-256 request fingerprint and checks simulated account liquidity.</a:t>
            </a:r>
          </a:p>
          <a:p>
            <a:pPr>
              <a:lnSpc>
                <a:spcPct val="115000"/>
              </a:lnSpc>
              <a:spcAft>
                <a:spcPts val="600"/>
              </a:spcAft>
              <a:defRPr sz="1250">
                <a:solidFill>
                  <a:srgbClr val="1E1E1E"/>
                </a:solidFill>
                <a:latin typeface="Times New Roman"/>
              </a:defRPr>
            </a:pPr>
            <a:r>
              <a:t>•   3. Behavioral Preprocessing: Derives 30-day spending ratios, velocity counters, and cyclical temporal projections.</a:t>
            </a:r>
          </a:p>
          <a:p>
            <a:pPr>
              <a:lnSpc>
                <a:spcPct val="115000"/>
              </a:lnSpc>
              <a:spcAft>
                <a:spcPts val="600"/>
              </a:spcAft>
              <a:defRPr sz="1250">
                <a:solidFill>
                  <a:srgbClr val="1E1E1E"/>
                </a:solidFill>
                <a:latin typeface="Times New Roman"/>
              </a:defRPr>
            </a:pPr>
            <a:r>
              <a:t>•   4. ML Inference &amp; TreeSHAP: XGBoost predicts continuous fraud probability; TreeSHAP calculates exact attributions.</a:t>
            </a:r>
          </a:p>
          <a:p>
            <a:pPr>
              <a:lnSpc>
                <a:spcPct val="115000"/>
              </a:lnSpc>
              <a:spcAft>
                <a:spcPts val="600"/>
              </a:spcAft>
              <a:defRPr sz="1250">
                <a:solidFill>
                  <a:srgbClr val="1E1E1E"/>
                </a:solidFill>
                <a:latin typeface="Times New Roman"/>
              </a:defRPr>
            </a:pPr>
            <a:r>
              <a:t>•   5. Deterministic Risk Scoring: Additive scoring evaluates ML signal, spending surge, velocity, and novelty (0-100).</a:t>
            </a:r>
          </a:p>
          <a:p>
            <a:pPr>
              <a:lnSpc>
                <a:spcPct val="115000"/>
              </a:lnSpc>
              <a:spcAft>
                <a:spcPts val="600"/>
              </a:spcAft>
              <a:defRPr sz="1250">
                <a:solidFill>
                  <a:srgbClr val="1E1E1E"/>
                </a:solidFill>
                <a:latin typeface="Times New Roman"/>
              </a:defRPr>
            </a:pPr>
            <a:r>
              <a:t>•   6. Decision Gatekeeper: Dispatches ALLOW (0-30: auto-clear), REVIEW (31-70: hold), or BLOCK (71-100: halt).</a:t>
            </a:r>
          </a:p>
          <a:p>
            <a:pPr>
              <a:lnSpc>
                <a:spcPct val="115000"/>
              </a:lnSpc>
              <a:spcAft>
                <a:spcPts val="600"/>
              </a:spcAft>
              <a:defRPr sz="1250">
                <a:solidFill>
                  <a:srgbClr val="1E1E1E"/>
                </a:solidFill>
                <a:latin typeface="Times New Roman"/>
              </a:defRPr>
            </a:pPr>
            <a:r>
              <a:t>•   7. Step-Up OTP &amp; Settlement: SMS OTP verification releases funds; failures trigger account lock and case creation.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MODULE DESCRIPTION – I</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14</a:t>
            </a:r>
          </a:p>
        </p:txBody>
      </p:sp>
      <p:sp>
        <p:nvSpPr>
          <p:cNvPr id="6" name="Rounded Rectangle 5"/>
          <p:cNvSpPr/>
          <p:nvPr/>
        </p:nvSpPr>
        <p:spPr>
          <a:xfrm>
            <a:off x="914400" y="1463040"/>
            <a:ext cx="4983480" cy="4572000"/>
          </a:xfrm>
          <a:prstGeom prst="roundRect">
            <a:avLst/>
          </a:prstGeom>
          <a:solidFill>
            <a:srgbClr val="F8FA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600" b="1">
                <a:solidFill>
                  <a:srgbClr val="002060"/>
                </a:solidFill>
                <a:latin typeface="Times New Roman"/>
              </a:defRPr>
            </a:pPr>
            <a:r>
              <a:t>MODULE 1 — DATASET &amp; VALIDATION</a:t>
            </a:r>
          </a:p>
          <a:p>
            <a:pPr>
              <a:spcBef>
                <a:spcPts val="300"/>
              </a:spcBef>
              <a:defRPr sz="1200">
                <a:solidFill>
                  <a:srgbClr val="1E1E1E"/>
                </a:solidFill>
                <a:latin typeface="Times New Roman"/>
              </a:defRPr>
            </a:pPr>
            <a:r>
              <a:t>•   Dataset Specification: 20,000 synthetic transaction records spanning 57 attributes across 30 commercial merchants in Tamil Nadu and Karnataka.</a:t>
            </a:r>
          </a:p>
          <a:p>
            <a:pPr>
              <a:spcBef>
                <a:spcPts val="300"/>
              </a:spcBef>
              <a:defRPr sz="1200">
                <a:solidFill>
                  <a:srgbClr val="1E1E1E"/>
                </a:solidFill>
                <a:latin typeface="Times New Roman"/>
              </a:defRPr>
            </a:pPr>
            <a:r>
              <a:t>•   Prevalence &amp; Target: Models genuine retail distribution with 5.46% fraud prevalence (1:17.3 class imbalance) with binary target is_fraud.</a:t>
            </a:r>
          </a:p>
          <a:p>
            <a:pPr>
              <a:spcBef>
                <a:spcPts val="300"/>
              </a:spcBef>
              <a:defRPr sz="1200">
                <a:solidFill>
                  <a:srgbClr val="1E1E1E"/>
                </a:solidFill>
                <a:latin typeface="Times New Roman"/>
              </a:defRPr>
            </a:pPr>
            <a:r>
              <a:t>•   11-Step Data Integrity Audit: Enforces automated schema checking, null checks, outlier auditing, and strict purging of target leakage proxies.</a:t>
            </a:r>
          </a:p>
          <a:p>
            <a:pPr>
              <a:spcBef>
                <a:spcPts val="1000"/>
              </a:spcBef>
              <a:defRPr sz="1600" b="1">
                <a:solidFill>
                  <a:srgbClr val="002060"/>
                </a:solidFill>
                <a:latin typeface="Times New Roman"/>
              </a:defRPr>
            </a:pPr>
            <a:r>
              <a:t>MODULE 2 — DATA PREPROCESSING</a:t>
            </a:r>
          </a:p>
          <a:p>
            <a:pPr>
              <a:spcBef>
                <a:spcPts val="300"/>
              </a:spcBef>
              <a:defRPr sz="1200">
                <a:solidFill>
                  <a:srgbClr val="1E1E1E"/>
                </a:solidFill>
                <a:latin typeface="Times New Roman"/>
              </a:defRPr>
            </a:pPr>
            <a:r>
              <a:t>•   Imputation: Median imputation for numerical fields (robust against monetary outliers); constant 'unknown' for categorical features.</a:t>
            </a:r>
          </a:p>
          <a:p>
            <a:pPr>
              <a:spcBef>
                <a:spcPts val="300"/>
              </a:spcBef>
              <a:defRPr sz="1200">
                <a:solidFill>
                  <a:srgbClr val="1E1E1E"/>
                </a:solidFill>
                <a:latin typeface="Times New Roman"/>
              </a:defRPr>
            </a:pPr>
            <a:r>
              <a:t>•   Scaling &amp; Encoding: StandardScaler centers 26 numerical variables; OneHotEncoder projects 4 categoricals into 37 binary dummy indicators.</a:t>
            </a:r>
          </a:p>
          <a:p>
            <a:pPr>
              <a:spcBef>
                <a:spcPts val="300"/>
              </a:spcBef>
              <a:defRPr sz="1200">
                <a:solidFill>
                  <a:srgbClr val="1E1E1E"/>
                </a:solidFill>
                <a:latin typeface="Times New Roman"/>
              </a:defRPr>
            </a:pPr>
            <a:r>
              <a:t>•   Behavioral Feature Engineering: Derives 26 interaction signals: amount-to-average spending ratios, velocity bursts, and trigonometric cyclical hours.</a:t>
            </a:r>
          </a:p>
        </p:txBody>
      </p:sp>
      <p:sp>
        <p:nvSpPr>
          <p:cNvPr id="7" name="Rounded Rectangle 6"/>
          <p:cNvSpPr/>
          <p:nvPr/>
        </p:nvSpPr>
        <p:spPr>
          <a:xfrm>
            <a:off x="6293815" y="1463040"/>
            <a:ext cx="4983480" cy="4572000"/>
          </a:xfrm>
          <a:prstGeom prst="roundRect">
            <a:avLst/>
          </a:prstGeom>
          <a:solidFill>
            <a:srgbClr val="F8FA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600" b="1">
                <a:solidFill>
                  <a:srgbClr val="002060"/>
                </a:solidFill>
                <a:latin typeface="Times New Roman"/>
              </a:defRPr>
            </a:pPr>
            <a:r>
              <a:t>MODULE 3 — MODEL TRAINING &amp; COMPARISON</a:t>
            </a:r>
          </a:p>
          <a:p>
            <a:pPr>
              <a:spcBef>
                <a:spcPts val="300"/>
              </a:spcBef>
              <a:defRPr sz="1200">
                <a:solidFill>
                  <a:srgbClr val="1E1E1E"/>
                </a:solidFill>
                <a:latin typeface="Times New Roman"/>
              </a:defRPr>
            </a:pPr>
            <a:r>
              <a:t>•   Supervised ML Tournament: Benchmarks regularized Logistic Regression, 300-tree tuned Random Forest, and extreme gradient boosting (XGBoost).</a:t>
            </a:r>
          </a:p>
          <a:p>
            <a:pPr>
              <a:spcBef>
                <a:spcPts val="300"/>
              </a:spcBef>
              <a:defRPr sz="1200">
                <a:solidFill>
                  <a:srgbClr val="1E1E1E"/>
                </a:solidFill>
                <a:latin typeface="Times New Roman"/>
              </a:defRPr>
            </a:pPr>
            <a:r>
              <a:t>•   Class Imbalance Calibration: Inverts majority class dominance via scale_pos_weight=17.3 in XGBoost and balanced class weights in RF.</a:t>
            </a:r>
          </a:p>
          <a:p>
            <a:pPr>
              <a:spcBef>
                <a:spcPts val="300"/>
              </a:spcBef>
              <a:defRPr sz="1200">
                <a:solidFill>
                  <a:srgbClr val="1E1E1E"/>
                </a:solidFill>
                <a:latin typeface="Times New Roman"/>
              </a:defRPr>
            </a:pPr>
            <a:r>
              <a:t>•   Model Comparison: XGBoost and Stacking Ensemble achieve 100.0% Test Recall and 1.000 ROC-AUC, ensuring zero undetected fraud vectors.</a:t>
            </a:r>
          </a:p>
          <a:p>
            <a:pPr>
              <a:spcBef>
                <a:spcPts val="1000"/>
              </a:spcBef>
              <a:defRPr sz="1600" b="1">
                <a:solidFill>
                  <a:srgbClr val="002060"/>
                </a:solidFill>
                <a:latin typeface="Times New Roman"/>
              </a:defRPr>
            </a:pPr>
            <a:r>
              <a:t>MODULE 4 — FRAUD PREDICTION</a:t>
            </a:r>
          </a:p>
          <a:p>
            <a:pPr>
              <a:spcBef>
                <a:spcPts val="300"/>
              </a:spcBef>
              <a:defRPr sz="1200">
                <a:solidFill>
                  <a:srgbClr val="1E1E1E"/>
                </a:solidFill>
                <a:latin typeface="Times New Roman"/>
              </a:defRPr>
            </a:pPr>
            <a:r>
              <a:t>•   Pre-Warmed Inference: Serialized champion models (.joblib) loaded into memory at startup to eliminate cold-start latency.</a:t>
            </a:r>
          </a:p>
          <a:p>
            <a:pPr>
              <a:spcBef>
                <a:spcPts val="300"/>
              </a:spcBef>
              <a:defRPr sz="1200">
                <a:solidFill>
                  <a:srgbClr val="1E1E1E"/>
                </a:solidFill>
                <a:latin typeface="Times New Roman"/>
              </a:defRPr>
            </a:pPr>
            <a:r>
              <a:t>•   Sub-2ms Model Inference: Generates continuous Fraud Probability (0.0 to 1.0) under 1.15ms via optimized tree traversal.</a:t>
            </a:r>
          </a:p>
          <a:p>
            <a:pPr>
              <a:spcBef>
                <a:spcPts val="300"/>
              </a:spcBef>
              <a:defRPr sz="1200">
                <a:solidFill>
                  <a:srgbClr val="1E1E1E"/>
                </a:solidFill>
                <a:latin typeface="Times New Roman"/>
              </a:defRPr>
            </a:pPr>
            <a:r>
              <a:t>•   Calibrated Decision Threshold: Enforces an optimized classification threshold (T=0.0637) prioritizing fraud sensitivity.</a:t>
            </a:r>
          </a:p>
          <a:p>
            <a:pPr>
              <a:spcBef>
                <a:spcPts val="1000"/>
              </a:spcBef>
              <a:defRPr sz="1600" b="1">
                <a:solidFill>
                  <a:srgbClr val="002060"/>
                </a:solidFill>
                <a:latin typeface="Times New Roman"/>
              </a:defRPr>
            </a:pPr>
            <a:r>
              <a:t>MODULE 8 — DASHBOARD &amp; REPORTING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MODULE DESCRIPTION – II</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15</a:t>
            </a:r>
          </a:p>
        </p:txBody>
      </p:sp>
      <p:sp>
        <p:nvSpPr>
          <p:cNvPr id="6" name="Rounded Rectangle 5"/>
          <p:cNvSpPr/>
          <p:nvPr/>
        </p:nvSpPr>
        <p:spPr>
          <a:xfrm>
            <a:off x="914400" y="1463040"/>
            <a:ext cx="4983480" cy="4572000"/>
          </a:xfrm>
          <a:prstGeom prst="roundRect">
            <a:avLst/>
          </a:prstGeom>
          <a:solidFill>
            <a:srgbClr val="F8FA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600" b="1">
                <a:solidFill>
                  <a:srgbClr val="002060"/>
                </a:solidFill>
                <a:latin typeface="Times New Roman"/>
              </a:defRPr>
            </a:pPr>
            <a:r>
              <a:t>MODULE 5 — RISK SCORING</a:t>
            </a:r>
          </a:p>
          <a:p>
            <a:pPr>
              <a:spcBef>
                <a:spcPts val="300"/>
              </a:spcBef>
              <a:defRPr sz="1200">
                <a:solidFill>
                  <a:srgbClr val="1E1E1E"/>
                </a:solidFill>
                <a:latin typeface="Times New Roman"/>
              </a:defRPr>
            </a:pPr>
            <a:r>
              <a:t>•   Independent Operational Metric: Generates a deterministic integer score [0, 100], strictly decoupled from raw ML probability.</a:t>
            </a:r>
          </a:p>
          <a:p>
            <a:pPr>
              <a:spcBef>
                <a:spcPts val="300"/>
              </a:spcBef>
              <a:defRPr sz="1200">
                <a:solidFill>
                  <a:srgbClr val="1E1E1E"/>
                </a:solidFill>
                <a:latin typeface="Times New Roman"/>
              </a:defRPr>
            </a:pPr>
            <a:r>
              <a:t>•   5 Orthogonal Dimensions: Evaluates ML curve (up to 60 pts), spending deviation vs 30-day baseline (up to 25 pts), velocity (up to 20 pts), beneficiary tenure (up to 15 pts), and environmental novelty (up to 25 pts).</a:t>
            </a:r>
          </a:p>
          <a:p>
            <a:pPr>
              <a:spcBef>
                <a:spcPts val="300"/>
              </a:spcBef>
              <a:defRPr sz="1200">
                <a:solidFill>
                  <a:srgbClr val="1E1E1E"/>
                </a:solidFill>
                <a:latin typeface="Times New Roman"/>
              </a:defRPr>
            </a:pPr>
            <a:r>
              <a:t>•   Actionable Risk Tiers: Maps scores directly to LOW (0-30: ALLOW), MEDIUM (31-70: REVIEW), and HIGH (71-100: BLOCK).</a:t>
            </a:r>
          </a:p>
          <a:p>
            <a:pPr>
              <a:spcBef>
                <a:spcPts val="1000"/>
              </a:spcBef>
              <a:defRPr sz="1600" b="1">
                <a:solidFill>
                  <a:srgbClr val="002060"/>
                </a:solidFill>
                <a:latin typeface="Times New Roman"/>
              </a:defRPr>
            </a:pPr>
            <a:r>
              <a:t>MODULE 6 — EXPLAINABLE AI (XAI)</a:t>
            </a:r>
          </a:p>
          <a:p>
            <a:pPr>
              <a:spcBef>
                <a:spcPts val="300"/>
              </a:spcBef>
              <a:defRPr sz="1200">
                <a:solidFill>
                  <a:srgbClr val="1E1E1E"/>
                </a:solidFill>
                <a:latin typeface="Times New Roman"/>
              </a:defRPr>
            </a:pPr>
            <a:r>
              <a:t>•   TreeSHAP Attribution: Computes exact local Shapley values in 1.08ms, fulfilling Efficiency, Missingness, and Consistency axioms.</a:t>
            </a:r>
          </a:p>
          <a:p>
            <a:pPr>
              <a:spcBef>
                <a:spcPts val="300"/>
              </a:spcBef>
              <a:defRPr sz="1200">
                <a:solidFill>
                  <a:srgbClr val="1E1E1E"/>
                </a:solidFill>
                <a:latin typeface="Times New Roman"/>
              </a:defRPr>
            </a:pPr>
            <a:r>
              <a:t>•   Local Waterfall Breakdown: Ranks top risk-increasing factors (spending spike, new device, nocturnal hour) and risk-decreasing mitigators.</a:t>
            </a:r>
          </a:p>
          <a:p>
            <a:pPr>
              <a:spcBef>
                <a:spcPts val="300"/>
              </a:spcBef>
              <a:defRPr sz="1200">
                <a:solidFill>
                  <a:srgbClr val="1E1E1E"/>
                </a:solidFill>
                <a:latin typeface="Times New Roman"/>
              </a:defRPr>
            </a:pPr>
            <a:r>
              <a:t>•   Natural Language Narratives: Automatically transforms Shapley vectors into evidence-grounded human explanations for investigators.</a:t>
            </a:r>
          </a:p>
        </p:txBody>
      </p:sp>
      <p:sp>
        <p:nvSpPr>
          <p:cNvPr id="7" name="Rounded Rectangle 6"/>
          <p:cNvSpPr/>
          <p:nvPr/>
        </p:nvSpPr>
        <p:spPr>
          <a:xfrm>
            <a:off x="6293815" y="1463040"/>
            <a:ext cx="4983480" cy="4572000"/>
          </a:xfrm>
          <a:prstGeom prst="roundRect">
            <a:avLst/>
          </a:prstGeom>
          <a:solidFill>
            <a:srgbClr val="F8FA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600" b="1">
                <a:solidFill>
                  <a:srgbClr val="002060"/>
                </a:solidFill>
                <a:latin typeface="Times New Roman"/>
              </a:defRPr>
            </a:pPr>
            <a:r>
              <a:t>MODULE 7 — INVESTIGATION MANAGEMENT</a:t>
            </a:r>
          </a:p>
          <a:p>
            <a:pPr>
              <a:spcBef>
                <a:spcPts val="300"/>
              </a:spcBef>
              <a:defRPr sz="1200">
                <a:solidFill>
                  <a:srgbClr val="1E1E1E"/>
                </a:solidFill>
                <a:latin typeface="Times New Roman"/>
              </a:defRPr>
            </a:pPr>
            <a:r>
              <a:t>•   Automated Case Creation: Flagged and blocked transactions automatically spawn formal investigation case dockets with full audit history.</a:t>
            </a:r>
          </a:p>
          <a:p>
            <a:pPr>
              <a:spcBef>
                <a:spcPts val="300"/>
              </a:spcBef>
              <a:defRPr sz="1200">
                <a:solidFill>
                  <a:srgbClr val="1E1E1E"/>
                </a:solidFill>
                <a:latin typeface="Times New Roman"/>
              </a:defRPr>
            </a:pPr>
            <a:r>
              <a:t>•   Forensic Adjudication: Tracks analyst case assignment, status transitions (OPEN, UNDER_REVIEW, RESOLVED), and formal determinations.</a:t>
            </a:r>
          </a:p>
          <a:p>
            <a:pPr>
              <a:spcBef>
                <a:spcPts val="300"/>
              </a:spcBef>
              <a:defRPr sz="1200">
                <a:solidFill>
                  <a:srgbClr val="1E1E1E"/>
                </a:solidFill>
                <a:latin typeface="Times New Roman"/>
              </a:defRPr>
            </a:pPr>
            <a:r>
              <a:t>•   AI Forensic Copilot: Integrated Google Gemini 1.5 Pro and xAI Grok-2 synthesize 4-stage kill-chain topologies and regulatory SAR filings.</a:t>
            </a:r>
          </a:p>
          <a:p>
            <a:pPr>
              <a:spcBef>
                <a:spcPts val="300"/>
              </a:spcBef>
              <a:defRPr sz="1200">
                <a:solidFill>
                  <a:srgbClr val="1E1E1E"/>
                </a:solidFill>
                <a:latin typeface="Times New Roman"/>
              </a:defRPr>
            </a:pPr>
            <a:r>
              <a:t>•   Executive Command Center: Real-time telemetry monitoring, 29-merchant surveillance grid, and streaming WebSocket fraud radar.</a:t>
            </a:r>
          </a:p>
          <a:p>
            <a:pPr>
              <a:spcBef>
                <a:spcPts val="300"/>
              </a:spcBef>
              <a:defRPr sz="1200">
                <a:solidFill>
                  <a:srgbClr val="1E1E1E"/>
                </a:solidFill>
                <a:latin typeface="Times New Roman"/>
              </a:defRPr>
            </a:pPr>
            <a:r>
              <a:t>•   Model Lab &amp; Model Registry: Real-time candidate model tournament benchmarking and challenger promotion interface.</a:t>
            </a:r>
          </a:p>
          <a:p>
            <a:pPr>
              <a:spcBef>
                <a:spcPts val="300"/>
              </a:spcBef>
              <a:defRPr sz="1200">
                <a:solidFill>
                  <a:srgbClr val="1E1E1E"/>
                </a:solidFill>
                <a:latin typeface="Times New Roman"/>
              </a:defRPr>
            </a:pPr>
            <a:r>
              <a:t>•   Compliance &amp; Audit Ledger: Cryptographic SHA-256 hashed audit log recording every authentication, scoring, and administrative event.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MATHEMATICAL / ML CONCEPT</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16</a:t>
            </a:r>
          </a:p>
        </p:txBody>
      </p:sp>
      <p:sp>
        <p:nvSpPr>
          <p:cNvPr id="6" name="Rounded Rectangle 5"/>
          <p:cNvSpPr/>
          <p:nvPr/>
        </p:nvSpPr>
        <p:spPr>
          <a:xfrm>
            <a:off x="1097280" y="1371600"/>
            <a:ext cx="9997135" cy="1188720"/>
          </a:xfrm>
          <a:prstGeom prst="roundRect">
            <a:avLst/>
          </a:prstGeom>
          <a:solidFill>
            <a:srgbClr val="F8FA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02060"/>
                </a:solidFill>
                <a:latin typeface="Times New Roman"/>
              </a:defRPr>
            </a:pPr>
            <a:r>
              <a:t>DECOUPLED MULTI-FACTOR OPERATIONAL RISK SCORING FORMULA</a:t>
            </a:r>
          </a:p>
          <a:p>
            <a:pPr algn="ctr">
              <a:spcBef>
                <a:spcPts val="600"/>
              </a:spcBef>
              <a:defRPr sz="2000" b="1">
                <a:solidFill>
                  <a:srgbClr val="000000"/>
                </a:solidFill>
                <a:latin typeface="Times New Roman"/>
              </a:defRPr>
            </a:pPr>
            <a:r>
              <a:t>RiskScore = clamp [0, 100] ( S_ML + S_Amount + S_Velocity + S_History + S_Env )</a:t>
            </a:r>
          </a:p>
        </p:txBody>
      </p:sp>
      <p:sp>
        <p:nvSpPr>
          <p:cNvPr id="7" name="TextBox 6"/>
          <p:cNvSpPr txBox="1"/>
          <p:nvPr/>
        </p:nvSpPr>
        <p:spPr>
          <a:xfrm>
            <a:off x="1097280" y="2697480"/>
            <a:ext cx="4892040" cy="3383280"/>
          </a:xfrm>
          <a:prstGeom prst="rect">
            <a:avLst/>
          </a:prstGeom>
          <a:noFill/>
        </p:spPr>
        <p:txBody>
          <a:bodyPr wrap="square">
            <a:spAutoFit/>
          </a:bodyPr>
          <a:lstStyle/>
          <a:p>
            <a:pPr>
              <a:spcAft>
                <a:spcPts val="800"/>
              </a:spcAft>
              <a:defRPr sz="1600" b="1">
                <a:solidFill>
                  <a:srgbClr val="002060"/>
                </a:solidFill>
                <a:latin typeface="Times New Roman"/>
              </a:defRPr>
            </a:pPr>
            <a:r>
              <a:t>WHERE / PARAMETER MEANING:</a:t>
            </a:r>
          </a:p>
          <a:p>
            <a:pPr>
              <a:lnSpc>
                <a:spcPct val="115000"/>
              </a:lnSpc>
              <a:spcAft>
                <a:spcPts val="600"/>
              </a:spcAft>
              <a:defRPr sz="1300">
                <a:solidFill>
                  <a:srgbClr val="1E1E1E"/>
                </a:solidFill>
                <a:latin typeface="Times New Roman"/>
              </a:defRPr>
            </a:pPr>
            <a:r>
              <a:t>•   S_ML (0 to 60 pts): Continuous transformation of ML fraud probability p (e.g., p &gt;= 0.70 maps to 45–60 pts).</a:t>
            </a:r>
          </a:p>
          <a:p>
            <a:pPr>
              <a:lnSpc>
                <a:spcPct val="115000"/>
              </a:lnSpc>
              <a:spcAft>
                <a:spcPts val="600"/>
              </a:spcAft>
              <a:defRPr sz="1300">
                <a:solidFill>
                  <a:srgbClr val="1E1E1E"/>
                </a:solidFill>
                <a:latin typeface="Times New Roman"/>
              </a:defRPr>
            </a:pPr>
            <a:r>
              <a:t>•   S_Amount (-4 to 18 pts): Ratio of payment amount to customer's 30-day average (A / μ_30d). Normal spend gives -4 pts rebate.</a:t>
            </a:r>
          </a:p>
          <a:p>
            <a:pPr>
              <a:lnSpc>
                <a:spcPct val="115000"/>
              </a:lnSpc>
              <a:spcAft>
                <a:spcPts val="600"/>
              </a:spcAft>
              <a:defRPr sz="1300">
                <a:solidFill>
                  <a:srgbClr val="1E1E1E"/>
                </a:solidFill>
                <a:latin typeface="Times New Roman"/>
              </a:defRPr>
            </a:pPr>
            <a:r>
              <a:t>•   S_Velocity (0 to 20 pts): 1-hour burst acceleration (&gt;= 5 tx in 1h = +20 pts; &gt;= 3 tx = +14 pts).</a:t>
            </a:r>
          </a:p>
          <a:p>
            <a:pPr>
              <a:lnSpc>
                <a:spcPct val="115000"/>
              </a:lnSpc>
              <a:spcAft>
                <a:spcPts val="600"/>
              </a:spcAft>
              <a:defRPr sz="1300">
                <a:solidFill>
                  <a:srgbClr val="1E1E1E"/>
                </a:solidFill>
                <a:latin typeface="Times New Roman"/>
              </a:defRPr>
            </a:pPr>
            <a:r>
              <a:t>•   S_History (0 to 15 pts): Historical chargeback incidents (+5 pts each) and young account probationary tenure (&lt; 14 days).</a:t>
            </a:r>
          </a:p>
          <a:p>
            <a:pPr>
              <a:lnSpc>
                <a:spcPct val="115000"/>
              </a:lnSpc>
              <a:spcAft>
                <a:spcPts val="600"/>
              </a:spcAft>
              <a:defRPr sz="1300">
                <a:solidFill>
                  <a:srgbClr val="1E1E1E"/>
                </a:solidFill>
                <a:latin typeface="Times New Roman"/>
              </a:defRPr>
            </a:pPr>
            <a:r>
              <a:t>•   S_Env (0 to 25 pts): Hardware device novelty (+8), geolocation jump &gt; 50km (+8), new beneficiary (+7), and nocturnal hour (+4).</a:t>
            </a:r>
          </a:p>
        </p:txBody>
      </p:sp>
      <p:sp>
        <p:nvSpPr>
          <p:cNvPr id="8" name="TextBox 7"/>
          <p:cNvSpPr txBox="1"/>
          <p:nvPr/>
        </p:nvSpPr>
        <p:spPr>
          <a:xfrm>
            <a:off x="6202375" y="2697480"/>
            <a:ext cx="4892040" cy="3383280"/>
          </a:xfrm>
          <a:prstGeom prst="rect">
            <a:avLst/>
          </a:prstGeom>
          <a:noFill/>
        </p:spPr>
        <p:txBody>
          <a:bodyPr wrap="square">
            <a:spAutoFit/>
          </a:bodyPr>
          <a:lstStyle/>
          <a:p>
            <a:pPr>
              <a:spcAft>
                <a:spcPts val="800"/>
              </a:spcAft>
              <a:defRPr sz="1600" b="1">
                <a:solidFill>
                  <a:srgbClr val="002060"/>
                </a:solidFill>
                <a:latin typeface="Times New Roman"/>
              </a:defRPr>
            </a:pPr>
            <a:r>
              <a:t>HOW FRAUDLENS AI USES IT IN PRACTICE:</a:t>
            </a:r>
          </a:p>
          <a:p>
            <a:pPr>
              <a:lnSpc>
                <a:spcPct val="115000"/>
              </a:lnSpc>
              <a:spcAft>
                <a:spcPts val="600"/>
              </a:spcAft>
              <a:defRPr sz="1300">
                <a:solidFill>
                  <a:srgbClr val="1E1E1E"/>
                </a:solidFill>
                <a:latin typeface="Times New Roman"/>
              </a:defRPr>
            </a:pPr>
            <a:r>
              <a:t>•   Prevents False Declines: A low-ticket payment with unfamiliar device produces low overall score, passing without friction.</a:t>
            </a:r>
          </a:p>
          <a:p>
            <a:pPr>
              <a:lnSpc>
                <a:spcPct val="115000"/>
              </a:lnSpc>
              <a:spcAft>
                <a:spcPts val="600"/>
              </a:spcAft>
              <a:defRPr sz="1300">
                <a:solidFill>
                  <a:srgbClr val="1E1E1E"/>
                </a:solidFill>
                <a:latin typeface="Times New Roman"/>
              </a:defRPr>
            </a:pPr>
            <a:r>
              <a:t>•   Captures High-Value Threats: High-ticket nocturnal transfers with baseline spikes trigger elevated scores even if statistical probability is moderate.</a:t>
            </a:r>
          </a:p>
          <a:p>
            <a:pPr>
              <a:lnSpc>
                <a:spcPct val="115000"/>
              </a:lnSpc>
              <a:spcAft>
                <a:spcPts val="600"/>
              </a:spcAft>
              <a:defRPr sz="1300">
                <a:solidFill>
                  <a:srgbClr val="1E1E1E"/>
                </a:solidFill>
                <a:latin typeface="Times New Roman"/>
              </a:defRPr>
            </a:pPr>
            <a:r>
              <a:t>•   Priority Floor Enforcement: If ML probability p &gt;= 0.70 or amount ratio &gt;= 50x, an automatic floor ensures Score &gt;= 75 (High Risk).</a:t>
            </a:r>
          </a:p>
          <a:p>
            <a:pPr>
              <a:lnSpc>
                <a:spcPct val="115000"/>
              </a:lnSpc>
              <a:spcAft>
                <a:spcPts val="600"/>
              </a:spcAft>
              <a:defRPr sz="1300">
                <a:solidFill>
                  <a:srgbClr val="1E1E1E"/>
                </a:solidFill>
                <a:latin typeface="Times New Roman"/>
              </a:defRPr>
            </a:pPr>
            <a:r>
              <a:t>•   Deterministic Gatekeeper: Directly maps into three discrete operational tiers: ALLOW (0-30), REVIEW (31-70: Step-Up OTP), and BLOCK (71-100).</a:t>
            </a:r>
          </a:p>
          <a:p>
            <a:pPr>
              <a:lnSpc>
                <a:spcPct val="115000"/>
              </a:lnSpc>
              <a:spcAft>
                <a:spcPts val="600"/>
              </a:spcAft>
              <a:defRPr sz="1300">
                <a:solidFill>
                  <a:srgbClr val="1E1E1E"/>
                </a:solidFill>
                <a:latin typeface="Times New Roman"/>
              </a:defRPr>
            </a:pPr>
            <a:r>
              <a:t>•   Easy Viva Explanation: The formula explicitly separates probability (statistical likelihood) from risk (monetary &amp; behavioral exposure).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OUTPUT SCREENSHOT – DASHBOARD</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17</a:t>
            </a:r>
          </a:p>
        </p:txBody>
      </p:sp>
      <p:pic>
        <p:nvPicPr>
          <p:cNvPr id="6" name="Picture 5" descr="screen_17_dashboard.png"/>
          <p:cNvPicPr>
            <a:picLocks noChangeAspect="1"/>
          </p:cNvPicPr>
          <p:nvPr/>
        </p:nvPicPr>
        <p:blipFill>
          <a:blip r:embed="rId2"/>
          <a:stretch>
            <a:fillRect/>
          </a:stretch>
        </p:blipFill>
        <p:spPr>
          <a:xfrm>
            <a:off x="914400" y="1371600"/>
            <a:ext cx="7132320" cy="4457700"/>
          </a:xfrm>
          <a:prstGeom prst="rect">
            <a:avLst/>
          </a:prstGeom>
        </p:spPr>
      </p:pic>
      <p:sp>
        <p:nvSpPr>
          <p:cNvPr id="7" name="TextBox 6"/>
          <p:cNvSpPr txBox="1"/>
          <p:nvPr/>
        </p:nvSpPr>
        <p:spPr>
          <a:xfrm>
            <a:off x="8321040" y="1371600"/>
            <a:ext cx="3139135" cy="4572000"/>
          </a:xfrm>
          <a:prstGeom prst="rect">
            <a:avLst/>
          </a:prstGeom>
          <a:noFill/>
        </p:spPr>
        <p:txBody>
          <a:bodyPr wrap="square">
            <a:spAutoFit/>
          </a:bodyPr>
          <a:lstStyle/>
          <a:p>
            <a:pPr>
              <a:spcAft>
                <a:spcPts val="800"/>
              </a:spcAft>
              <a:defRPr sz="1600" b="1">
                <a:solidFill>
                  <a:srgbClr val="002060"/>
                </a:solidFill>
                <a:latin typeface="Times New Roman"/>
              </a:defRPr>
            </a:pPr>
            <a:r>
              <a:t>EXECUTIVE COMMAND CENTER:</a:t>
            </a:r>
          </a:p>
          <a:p>
            <a:pPr>
              <a:lnSpc>
                <a:spcPct val="115000"/>
              </a:lnSpc>
              <a:spcAft>
                <a:spcPts val="800"/>
              </a:spcAft>
              <a:defRPr sz="1300">
                <a:solidFill>
                  <a:srgbClr val="1E1E1E"/>
                </a:solidFill>
                <a:latin typeface="Times New Roman"/>
              </a:defRPr>
            </a:pPr>
            <a:r>
              <a:t>•   Real-Time Telemetry: Monitors active transaction flow and system operational health across all microservices.</a:t>
            </a:r>
          </a:p>
          <a:p>
            <a:pPr>
              <a:lnSpc>
                <a:spcPct val="115000"/>
              </a:lnSpc>
              <a:spcAft>
                <a:spcPts val="800"/>
              </a:spcAft>
              <a:defRPr sz="1300">
                <a:solidFill>
                  <a:srgbClr val="1E1E1E"/>
                </a:solidFill>
                <a:latin typeface="Times New Roman"/>
              </a:defRPr>
            </a:pPr>
            <a:r>
              <a:t>•   Fraud Prevalence Radar: Tracks real-time fraud rate against the 5.46% empirical baseline.</a:t>
            </a:r>
          </a:p>
          <a:p>
            <a:pPr>
              <a:lnSpc>
                <a:spcPct val="115000"/>
              </a:lnSpc>
              <a:spcAft>
                <a:spcPts val="800"/>
              </a:spcAft>
              <a:defRPr sz="1300">
                <a:solidFill>
                  <a:srgbClr val="1E1E1E"/>
                </a:solidFill>
                <a:latin typeface="Times New Roman"/>
              </a:defRPr>
            </a:pPr>
            <a:r>
              <a:t>•   29 Master Merchants: Commercial risk surveillance grid across heterogeneous merchant categories.</a:t>
            </a:r>
          </a:p>
          <a:p>
            <a:pPr>
              <a:lnSpc>
                <a:spcPct val="115000"/>
              </a:lnSpc>
              <a:spcAft>
                <a:spcPts val="800"/>
              </a:spcAft>
              <a:defRPr sz="1300">
                <a:solidFill>
                  <a:srgbClr val="1E1E1E"/>
                </a:solidFill>
                <a:latin typeface="Times New Roman"/>
              </a:defRPr>
            </a:pPr>
            <a:r>
              <a:t>•   Live Alert Stream: Real-time WebSocket alerts flagging critical velocity bursts and high-risk transfers.</a:t>
            </a:r>
          </a:p>
          <a:p>
            <a:pPr>
              <a:lnSpc>
                <a:spcPct val="115000"/>
              </a:lnSpc>
              <a:spcAft>
                <a:spcPts val="800"/>
              </a:spcAft>
              <a:defRPr sz="1300">
                <a:solidFill>
                  <a:srgbClr val="1E1E1E"/>
                </a:solidFill>
                <a:latin typeface="Times New Roman"/>
              </a:defRPr>
            </a:pPr>
            <a:r>
              <a:t>•   Rapid Navigation: Direct 1-click access to forensic investigations and explainability dossiers.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OUTPUT SCREENSHOT – TRANSACTION RISK ANALYSIS</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18</a:t>
            </a:r>
          </a:p>
        </p:txBody>
      </p:sp>
      <p:pic>
        <p:nvPicPr>
          <p:cNvPr id="6" name="Picture 5" descr="screen_18_risk_analyzer.png"/>
          <p:cNvPicPr>
            <a:picLocks noChangeAspect="1"/>
          </p:cNvPicPr>
          <p:nvPr/>
        </p:nvPicPr>
        <p:blipFill>
          <a:blip r:embed="rId2"/>
          <a:stretch>
            <a:fillRect/>
          </a:stretch>
        </p:blipFill>
        <p:spPr>
          <a:xfrm>
            <a:off x="914400" y="1371600"/>
            <a:ext cx="7132320" cy="4457700"/>
          </a:xfrm>
          <a:prstGeom prst="rect">
            <a:avLst/>
          </a:prstGeom>
        </p:spPr>
      </p:pic>
      <p:sp>
        <p:nvSpPr>
          <p:cNvPr id="7" name="TextBox 6"/>
          <p:cNvSpPr txBox="1"/>
          <p:nvPr/>
        </p:nvSpPr>
        <p:spPr>
          <a:xfrm>
            <a:off x="8321040" y="1371600"/>
            <a:ext cx="3139135" cy="4572000"/>
          </a:xfrm>
          <a:prstGeom prst="rect">
            <a:avLst/>
          </a:prstGeom>
          <a:noFill/>
        </p:spPr>
        <p:txBody>
          <a:bodyPr wrap="square">
            <a:spAutoFit/>
          </a:bodyPr>
          <a:lstStyle/>
          <a:p>
            <a:pPr>
              <a:spcAft>
                <a:spcPts val="800"/>
              </a:spcAft>
              <a:defRPr sz="1600" b="1">
                <a:solidFill>
                  <a:srgbClr val="002060"/>
                </a:solidFill>
                <a:latin typeface="Times New Roman"/>
              </a:defRPr>
            </a:pPr>
            <a:r>
              <a:t>TRANSACTION RISK ANALYZER:</a:t>
            </a:r>
          </a:p>
          <a:p>
            <a:pPr>
              <a:lnSpc>
                <a:spcPct val="115000"/>
              </a:lnSpc>
              <a:spcAft>
                <a:spcPts val="800"/>
              </a:spcAft>
              <a:defRPr sz="1300">
                <a:solidFill>
                  <a:srgbClr val="1E1E1E"/>
                </a:solidFill>
                <a:latin typeface="Times New Roman"/>
              </a:defRPr>
            </a:pPr>
            <a:r>
              <a:t>•   Pre-Auth Simulation: Evaluates real-time payment intents against customer behavioral baselines.</a:t>
            </a:r>
          </a:p>
          <a:p>
            <a:pPr>
              <a:lnSpc>
                <a:spcPct val="115000"/>
              </a:lnSpc>
              <a:spcAft>
                <a:spcPts val="800"/>
              </a:spcAft>
              <a:defRPr sz="1300">
                <a:solidFill>
                  <a:srgbClr val="1E1E1E"/>
                </a:solidFill>
                <a:latin typeface="Times New Roman"/>
              </a:defRPr>
            </a:pPr>
            <a:r>
              <a:t>•   Multi-Factor Scoring: Visualizes exact point contributions across ML, spending deviation, and velocity.</a:t>
            </a:r>
          </a:p>
          <a:p>
            <a:pPr>
              <a:lnSpc>
                <a:spcPct val="115000"/>
              </a:lnSpc>
              <a:spcAft>
                <a:spcPts val="800"/>
              </a:spcAft>
              <a:defRPr sz="1300">
                <a:solidFill>
                  <a:srgbClr val="1E1E1E"/>
                </a:solidFill>
                <a:latin typeface="Times New Roman"/>
              </a:defRPr>
            </a:pPr>
            <a:r>
              <a:t>•   Risk Tier Classification: Displays dynamic risk badges: LOW RISK (0–30), MEDIUM RISK (31–70), or HIGH RISK (71–100).</a:t>
            </a:r>
          </a:p>
          <a:p>
            <a:pPr>
              <a:lnSpc>
                <a:spcPct val="115000"/>
              </a:lnSpc>
              <a:spcAft>
                <a:spcPts val="800"/>
              </a:spcAft>
              <a:defRPr sz="1300">
                <a:solidFill>
                  <a:srgbClr val="1E1E1E"/>
                </a:solidFill>
                <a:latin typeface="Times New Roman"/>
              </a:defRPr>
            </a:pPr>
            <a:r>
              <a:t>•   Step-Up SMS OTP Trigger: Shows simulated smartphone SMS OTP challenge for review-tier authorization.</a:t>
            </a:r>
          </a:p>
          <a:p>
            <a:pPr>
              <a:lnSpc>
                <a:spcPct val="115000"/>
              </a:lnSpc>
              <a:spcAft>
                <a:spcPts val="800"/>
              </a:spcAft>
              <a:defRPr sz="1300">
                <a:solidFill>
                  <a:srgbClr val="1E1E1E"/>
                </a:solidFill>
                <a:latin typeface="Times New Roman"/>
              </a:defRPr>
            </a:pPr>
            <a:r>
              <a:t>•   Gatekeeper Decisioning: Instantaneous ALLOW / REVIEW / BLOCK operational enforcement.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OUTPUT SCREENSHOT – SHAP EXPLANATION</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19</a:t>
            </a:r>
          </a:p>
        </p:txBody>
      </p:sp>
      <p:pic>
        <p:nvPicPr>
          <p:cNvPr id="6" name="Picture 5" descr="fig_6_3_shap_waterfall.png"/>
          <p:cNvPicPr>
            <a:picLocks noChangeAspect="1"/>
          </p:cNvPicPr>
          <p:nvPr/>
        </p:nvPicPr>
        <p:blipFill>
          <a:blip r:embed="rId2"/>
          <a:stretch>
            <a:fillRect/>
          </a:stretch>
        </p:blipFill>
        <p:spPr>
          <a:xfrm>
            <a:off x="914400" y="1371600"/>
            <a:ext cx="7132320" cy="4002374"/>
          </a:xfrm>
          <a:prstGeom prst="rect">
            <a:avLst/>
          </a:prstGeom>
        </p:spPr>
      </p:pic>
      <p:sp>
        <p:nvSpPr>
          <p:cNvPr id="7" name="TextBox 6"/>
          <p:cNvSpPr txBox="1"/>
          <p:nvPr/>
        </p:nvSpPr>
        <p:spPr>
          <a:xfrm>
            <a:off x="8321040" y="1371600"/>
            <a:ext cx="3139135" cy="4572000"/>
          </a:xfrm>
          <a:prstGeom prst="rect">
            <a:avLst/>
          </a:prstGeom>
          <a:noFill/>
        </p:spPr>
        <p:txBody>
          <a:bodyPr wrap="square">
            <a:spAutoFit/>
          </a:bodyPr>
          <a:lstStyle/>
          <a:p>
            <a:pPr>
              <a:spcAft>
                <a:spcPts val="800"/>
              </a:spcAft>
              <a:defRPr sz="1600" b="1">
                <a:solidFill>
                  <a:srgbClr val="002060"/>
                </a:solidFill>
                <a:latin typeface="Times New Roman"/>
              </a:defRPr>
            </a:pPr>
            <a:r>
              <a:t>TREESHAP WATERFALL ATTRIBUTION:</a:t>
            </a:r>
          </a:p>
          <a:p>
            <a:pPr>
              <a:lnSpc>
                <a:spcPct val="115000"/>
              </a:lnSpc>
              <a:spcAft>
                <a:spcPts val="800"/>
              </a:spcAft>
              <a:defRPr sz="1300">
                <a:solidFill>
                  <a:srgbClr val="1E1E1E"/>
                </a:solidFill>
                <a:latin typeface="Times New Roman"/>
              </a:defRPr>
            </a:pPr>
            <a:r>
              <a:t>•   Base Expected Value: Initial population base rate: φ_0 = 0.054 (5.4% background fraud rate).</a:t>
            </a:r>
          </a:p>
          <a:p>
            <a:pPr>
              <a:lnSpc>
                <a:spcPct val="115000"/>
              </a:lnSpc>
              <a:spcAft>
                <a:spcPts val="800"/>
              </a:spcAft>
              <a:defRPr sz="1300">
                <a:solidFill>
                  <a:srgbClr val="1E1E1E"/>
                </a:solidFill>
                <a:latin typeface="Times New Roman"/>
              </a:defRPr>
            </a:pPr>
            <a:r>
              <a:t>•   Top Risk Drivers (+): Spending spike (+0.420), unrecognized device (+0.210), nocturnal hour (+0.145), and unverified beneficiary (+0.095).</a:t>
            </a:r>
          </a:p>
          <a:p>
            <a:pPr>
              <a:lnSpc>
                <a:spcPct val="115000"/>
              </a:lnSpc>
              <a:spcAft>
                <a:spcPts val="800"/>
              </a:spcAft>
              <a:defRPr sz="1300">
                <a:solidFill>
                  <a:srgbClr val="1E1E1E"/>
                </a:solidFill>
                <a:latin typeface="Times New Roman"/>
              </a:defRPr>
            </a:pPr>
            <a:r>
              <a:t>•   Mitigating Factors (-): Customer account KYC tenure (-0.015) and domestic regional residency (-0.014).</a:t>
            </a:r>
          </a:p>
          <a:p>
            <a:pPr>
              <a:lnSpc>
                <a:spcPct val="115000"/>
              </a:lnSpc>
              <a:spcAft>
                <a:spcPts val="800"/>
              </a:spcAft>
              <a:defRPr sz="1300">
                <a:solidFill>
                  <a:srgbClr val="1E1E1E"/>
                </a:solidFill>
                <a:latin typeface="Times New Roman"/>
              </a:defRPr>
            </a:pPr>
            <a:r>
              <a:t>•   Final Output Prediction: Cumulative attribution sums to final probability f(x) = 0.895 (89.5% fraud).</a:t>
            </a:r>
          </a:p>
          <a:p>
            <a:pPr>
              <a:lnSpc>
                <a:spcPct val="115000"/>
              </a:lnSpc>
              <a:spcAft>
                <a:spcPts val="800"/>
              </a:spcAft>
              <a:defRPr sz="1300">
                <a:solidFill>
                  <a:srgbClr val="1E1E1E"/>
                </a:solidFill>
                <a:latin typeface="Times New Roman"/>
              </a:defRPr>
            </a:pPr>
            <a:r>
              <a:t>•   Regulatory Compliance: Provides complete causal transparency satisfying GDPR Article 22 Right to Explanation.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OUTPUT SCREENSHOT – INVESTIGATION</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20</a:t>
            </a:r>
          </a:p>
        </p:txBody>
      </p:sp>
      <p:pic>
        <p:nvPicPr>
          <p:cNvPr id="6" name="Picture 5" descr="screen_20_investigations.png"/>
          <p:cNvPicPr>
            <a:picLocks noChangeAspect="1"/>
          </p:cNvPicPr>
          <p:nvPr/>
        </p:nvPicPr>
        <p:blipFill>
          <a:blip r:embed="rId2"/>
          <a:stretch>
            <a:fillRect/>
          </a:stretch>
        </p:blipFill>
        <p:spPr>
          <a:xfrm>
            <a:off x="914400" y="1371600"/>
            <a:ext cx="7132320" cy="4457700"/>
          </a:xfrm>
          <a:prstGeom prst="rect">
            <a:avLst/>
          </a:prstGeom>
        </p:spPr>
      </p:pic>
      <p:sp>
        <p:nvSpPr>
          <p:cNvPr id="7" name="TextBox 6"/>
          <p:cNvSpPr txBox="1"/>
          <p:nvPr/>
        </p:nvSpPr>
        <p:spPr>
          <a:xfrm>
            <a:off x="8321040" y="1371600"/>
            <a:ext cx="3139135" cy="4572000"/>
          </a:xfrm>
          <a:prstGeom prst="rect">
            <a:avLst/>
          </a:prstGeom>
          <a:noFill/>
        </p:spPr>
        <p:txBody>
          <a:bodyPr wrap="square">
            <a:spAutoFit/>
          </a:bodyPr>
          <a:lstStyle/>
          <a:p>
            <a:pPr>
              <a:spcAft>
                <a:spcPts val="800"/>
              </a:spcAft>
              <a:defRPr sz="1600" b="1">
                <a:solidFill>
                  <a:srgbClr val="002060"/>
                </a:solidFill>
                <a:latin typeface="Times New Roman"/>
              </a:defRPr>
            </a:pPr>
            <a:r>
              <a:t>CASE INVESTIGATION &amp; COPILOT:</a:t>
            </a:r>
          </a:p>
          <a:p>
            <a:pPr>
              <a:lnSpc>
                <a:spcPct val="115000"/>
              </a:lnSpc>
              <a:spcAft>
                <a:spcPts val="800"/>
              </a:spcAft>
              <a:defRPr sz="1300">
                <a:solidFill>
                  <a:srgbClr val="1E1E1E"/>
                </a:solidFill>
                <a:latin typeface="Times New Roman"/>
              </a:defRPr>
            </a:pPr>
            <a:r>
              <a:t>•   Forensic Case Dockets: Automated docket management with assigned investigator IDs, timestamps, and priority tags.</a:t>
            </a:r>
          </a:p>
          <a:p>
            <a:pPr>
              <a:lnSpc>
                <a:spcPct val="115000"/>
              </a:lnSpc>
              <a:spcAft>
                <a:spcPts val="800"/>
              </a:spcAft>
              <a:defRPr sz="1300">
                <a:solidFill>
                  <a:srgbClr val="1E1E1E"/>
                </a:solidFill>
                <a:latin typeface="Times New Roman"/>
              </a:defRPr>
            </a:pPr>
            <a:r>
              <a:t>•   4-Stage Kill-Chain Topology: Visualizes adversary attack progression from credential stuffing to exfiltration.</a:t>
            </a:r>
          </a:p>
          <a:p>
            <a:pPr>
              <a:lnSpc>
                <a:spcPct val="115000"/>
              </a:lnSpc>
              <a:spcAft>
                <a:spcPts val="800"/>
              </a:spcAft>
              <a:defRPr sz="1300">
                <a:solidFill>
                  <a:srgbClr val="1E1E1E"/>
                </a:solidFill>
                <a:latin typeface="Times New Roman"/>
              </a:defRPr>
            </a:pPr>
            <a:r>
              <a:t>•   Multi-LLM Copilot: Integrated Google Gemini 1.5 Pro and xAI Grok-2 generating synthesized case narratives.</a:t>
            </a:r>
          </a:p>
          <a:p>
            <a:pPr>
              <a:lnSpc>
                <a:spcPct val="115000"/>
              </a:lnSpc>
              <a:spcAft>
                <a:spcPts val="800"/>
              </a:spcAft>
              <a:defRPr sz="1300">
                <a:solidFill>
                  <a:srgbClr val="1E1E1E"/>
                </a:solidFill>
                <a:latin typeface="Times New Roman"/>
              </a:defRPr>
            </a:pPr>
            <a:r>
              <a:t>•   Regulatory SAR Export: One-click generation of formatted Suspicious Activity Reports for compliance filing.</a:t>
            </a:r>
          </a:p>
          <a:p>
            <a:pPr>
              <a:lnSpc>
                <a:spcPct val="115000"/>
              </a:lnSpc>
              <a:spcAft>
                <a:spcPts val="800"/>
              </a:spcAft>
              <a:defRPr sz="1300">
                <a:solidFill>
                  <a:srgbClr val="1E1E1E"/>
                </a:solidFill>
                <a:latin typeface="Times New Roman"/>
              </a:defRPr>
            </a:pPr>
            <a:r>
              <a:t>•   Audit Note Logging: Permanent chronological recording of analyst determinations and case closures.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OUTPUT SCREENSHOT – ADMIN / MODEL / REPORT</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21</a:t>
            </a:r>
          </a:p>
        </p:txBody>
      </p:sp>
      <p:pic>
        <p:nvPicPr>
          <p:cNvPr id="6" name="Picture 5" descr="screen_21_model_lab.png"/>
          <p:cNvPicPr>
            <a:picLocks noChangeAspect="1"/>
          </p:cNvPicPr>
          <p:nvPr/>
        </p:nvPicPr>
        <p:blipFill>
          <a:blip r:embed="rId2"/>
          <a:stretch>
            <a:fillRect/>
          </a:stretch>
        </p:blipFill>
        <p:spPr>
          <a:xfrm>
            <a:off x="914400" y="1371600"/>
            <a:ext cx="7132320" cy="4457700"/>
          </a:xfrm>
          <a:prstGeom prst="rect">
            <a:avLst/>
          </a:prstGeom>
        </p:spPr>
      </p:pic>
      <p:sp>
        <p:nvSpPr>
          <p:cNvPr id="7" name="TextBox 6"/>
          <p:cNvSpPr txBox="1"/>
          <p:nvPr/>
        </p:nvSpPr>
        <p:spPr>
          <a:xfrm>
            <a:off x="8321040" y="1371600"/>
            <a:ext cx="3139135" cy="4572000"/>
          </a:xfrm>
          <a:prstGeom prst="rect">
            <a:avLst/>
          </a:prstGeom>
          <a:noFill/>
        </p:spPr>
        <p:txBody>
          <a:bodyPr wrap="square">
            <a:spAutoFit/>
          </a:bodyPr>
          <a:lstStyle/>
          <a:p>
            <a:pPr>
              <a:spcAft>
                <a:spcPts val="800"/>
              </a:spcAft>
              <a:defRPr sz="1600" b="1">
                <a:solidFill>
                  <a:srgbClr val="002060"/>
                </a:solidFill>
                <a:latin typeface="Times New Roman"/>
              </a:defRPr>
            </a:pPr>
            <a:r>
              <a:t>MODEL LAB &amp; SYSTEM AUDIT:</a:t>
            </a:r>
          </a:p>
          <a:p>
            <a:pPr>
              <a:lnSpc>
                <a:spcPct val="115000"/>
              </a:lnSpc>
              <a:spcAft>
                <a:spcPts val="800"/>
              </a:spcAft>
              <a:defRPr sz="1300">
                <a:solidFill>
                  <a:srgbClr val="1E1E1E"/>
                </a:solidFill>
                <a:latin typeface="Times New Roman"/>
              </a:defRPr>
            </a:pPr>
            <a:r>
              <a:t>•   Model Tournament Leaderboard: Real-time benchmarking comparing XGBoost, Random Forest, Logistic Regression, and Stacking.</a:t>
            </a:r>
          </a:p>
          <a:p>
            <a:pPr>
              <a:lnSpc>
                <a:spcPct val="115000"/>
              </a:lnSpc>
              <a:spcAft>
                <a:spcPts val="800"/>
              </a:spcAft>
              <a:defRPr sz="1300">
                <a:solidFill>
                  <a:srgbClr val="1E1E1E"/>
                </a:solidFill>
                <a:latin typeface="Times New Roman"/>
              </a:defRPr>
            </a:pPr>
            <a:r>
              <a:t>•   Champion Model Promotion: Zero-downtime hot swapping of active serialized model artifacts (.joblib).</a:t>
            </a:r>
          </a:p>
          <a:p>
            <a:pPr>
              <a:lnSpc>
                <a:spcPct val="115000"/>
              </a:lnSpc>
              <a:spcAft>
                <a:spcPts val="800"/>
              </a:spcAft>
              <a:defRPr sz="1300">
                <a:solidFill>
                  <a:srgbClr val="1E1E1E"/>
                </a:solidFill>
                <a:latin typeface="Times New Roman"/>
              </a:defRPr>
            </a:pPr>
            <a:r>
              <a:t>•   Database &amp; Storage Health: Live monitoring of 20 relational SQLite tables, WAL mode, and storage footprint.</a:t>
            </a:r>
          </a:p>
          <a:p>
            <a:pPr>
              <a:lnSpc>
                <a:spcPct val="115000"/>
              </a:lnSpc>
              <a:spcAft>
                <a:spcPts val="800"/>
              </a:spcAft>
              <a:defRPr sz="1300">
                <a:solidFill>
                  <a:srgbClr val="1E1E1E"/>
                </a:solidFill>
                <a:latin typeface="Times New Roman"/>
              </a:defRPr>
            </a:pPr>
            <a:r>
              <a:t>•   Immutable Audit Ledger: Tamper-evident log tracking 1,455+ administrative, authentication, and scoring events.</a:t>
            </a:r>
          </a:p>
          <a:p>
            <a:pPr>
              <a:lnSpc>
                <a:spcPct val="115000"/>
              </a:lnSpc>
              <a:spcAft>
                <a:spcPts val="800"/>
              </a:spcAft>
              <a:defRPr sz="1300">
                <a:solidFill>
                  <a:srgbClr val="1E1E1E"/>
                </a:solidFill>
                <a:latin typeface="Times New Roman"/>
              </a:defRPr>
            </a:pPr>
            <a:r>
              <a:t>•   11-Step Data Integrity Check: Automated verification confirming zero synthetic target leakage in production.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RESULT AND DISCUSSION</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22</a:t>
            </a:r>
          </a:p>
        </p:txBody>
      </p:sp>
      <p:graphicFrame>
        <p:nvGraphicFramePr>
          <p:cNvPr id="6" name="Table 5"/>
          <p:cNvGraphicFramePr>
            <a:graphicFrameLocks noGrp="1"/>
          </p:cNvGraphicFramePr>
          <p:nvPr/>
        </p:nvGraphicFramePr>
        <p:xfrm>
          <a:off x="914400" y="1371600"/>
          <a:ext cx="10362895" cy="2194560"/>
        </p:xfrm>
        <a:graphic>
          <a:graphicData uri="http://schemas.openxmlformats.org/drawingml/2006/table">
            <a:tbl>
              <a:tblPr firstRow="1" bandRow="1">
                <a:tableStyleId>{5C22544A-7EE6-4342-B048-85BDC9FD1C3A}</a:tableStyleId>
              </a:tblPr>
              <a:tblGrid>
                <a:gridCol w="2499055"/>
                <a:gridCol w="1097280"/>
                <a:gridCol w="1097280"/>
                <a:gridCol w="1097280"/>
                <a:gridCol w="1097280"/>
                <a:gridCol w="1097280"/>
                <a:gridCol w="1097280"/>
                <a:gridCol w="1280160"/>
              </a:tblGrid>
              <a:tr h="438912">
                <a:tc>
                  <a:txBody>
                    <a:bodyPr/>
                    <a:lstStyle/>
                    <a:p>
                      <a:pPr algn="ctr">
                        <a:defRPr sz="1300" b="1">
                          <a:solidFill>
                            <a:srgbClr val="FFFFFF"/>
                          </a:solidFill>
                          <a:latin typeface="Times New Roman"/>
                        </a:defRPr>
                      </a:pPr>
                      <a:r>
                        <a:t>Classification Model</a:t>
                      </a:r>
                    </a:p>
                  </a:txBody>
                  <a:tcPr anchor="ctr">
                    <a:solidFill>
                      <a:srgbClr val="2969B0"/>
                    </a:solidFill>
                  </a:tcPr>
                </a:tc>
                <a:tc>
                  <a:txBody>
                    <a:bodyPr/>
                    <a:lstStyle/>
                    <a:p>
                      <a:pPr algn="ctr">
                        <a:defRPr sz="1300" b="1">
                          <a:solidFill>
                            <a:srgbClr val="FFFFFF"/>
                          </a:solidFill>
                          <a:latin typeface="Times New Roman"/>
                        </a:defRPr>
                      </a:pPr>
                      <a:r>
                        <a:t>Accuracy</a:t>
                      </a:r>
                    </a:p>
                  </a:txBody>
                  <a:tcPr anchor="ctr">
                    <a:solidFill>
                      <a:srgbClr val="2969B0"/>
                    </a:solidFill>
                  </a:tcPr>
                </a:tc>
                <a:tc>
                  <a:txBody>
                    <a:bodyPr/>
                    <a:lstStyle/>
                    <a:p>
                      <a:pPr algn="ctr">
                        <a:defRPr sz="1300" b="1">
                          <a:solidFill>
                            <a:srgbClr val="FFFFFF"/>
                          </a:solidFill>
                          <a:latin typeface="Times New Roman"/>
                        </a:defRPr>
                      </a:pPr>
                      <a:r>
                        <a:t>Precision</a:t>
                      </a:r>
                    </a:p>
                  </a:txBody>
                  <a:tcPr anchor="ctr">
                    <a:solidFill>
                      <a:srgbClr val="2969B0"/>
                    </a:solidFill>
                  </a:tcPr>
                </a:tc>
                <a:tc>
                  <a:txBody>
                    <a:bodyPr/>
                    <a:lstStyle/>
                    <a:p>
                      <a:pPr algn="ctr">
                        <a:defRPr sz="1300" b="1">
                          <a:solidFill>
                            <a:srgbClr val="FFFFFF"/>
                          </a:solidFill>
                          <a:latin typeface="Times New Roman"/>
                        </a:defRPr>
                      </a:pPr>
                      <a:r>
                        <a:t>Recall</a:t>
                      </a:r>
                    </a:p>
                  </a:txBody>
                  <a:tcPr anchor="ctr">
                    <a:solidFill>
                      <a:srgbClr val="2969B0"/>
                    </a:solidFill>
                  </a:tcPr>
                </a:tc>
                <a:tc>
                  <a:txBody>
                    <a:bodyPr/>
                    <a:lstStyle/>
                    <a:p>
                      <a:pPr algn="ctr">
                        <a:defRPr sz="1300" b="1">
                          <a:solidFill>
                            <a:srgbClr val="FFFFFF"/>
                          </a:solidFill>
                          <a:latin typeface="Times New Roman"/>
                        </a:defRPr>
                      </a:pPr>
                      <a:r>
                        <a:t>F1-Score</a:t>
                      </a:r>
                    </a:p>
                  </a:txBody>
                  <a:tcPr anchor="ctr">
                    <a:solidFill>
                      <a:srgbClr val="2969B0"/>
                    </a:solidFill>
                  </a:tcPr>
                </a:tc>
                <a:tc>
                  <a:txBody>
                    <a:bodyPr/>
                    <a:lstStyle/>
                    <a:p>
                      <a:pPr algn="ctr">
                        <a:defRPr sz="1300" b="1">
                          <a:solidFill>
                            <a:srgbClr val="FFFFFF"/>
                          </a:solidFill>
                          <a:latin typeface="Times New Roman"/>
                        </a:defRPr>
                      </a:pPr>
                      <a:r>
                        <a:t>ROC-AUC</a:t>
                      </a:r>
                    </a:p>
                  </a:txBody>
                  <a:tcPr anchor="ctr">
                    <a:solidFill>
                      <a:srgbClr val="2969B0"/>
                    </a:solidFill>
                  </a:tcPr>
                </a:tc>
                <a:tc>
                  <a:txBody>
                    <a:bodyPr/>
                    <a:lstStyle/>
                    <a:p>
                      <a:pPr algn="ctr">
                        <a:defRPr sz="1300" b="1">
                          <a:solidFill>
                            <a:srgbClr val="FFFFFF"/>
                          </a:solidFill>
                          <a:latin typeface="Times New Roman"/>
                        </a:defRPr>
                      </a:pPr>
                      <a:r>
                        <a:t>PR-AUC</a:t>
                      </a:r>
                    </a:p>
                  </a:txBody>
                  <a:tcPr anchor="ctr">
                    <a:solidFill>
                      <a:srgbClr val="2969B0"/>
                    </a:solidFill>
                  </a:tcPr>
                </a:tc>
                <a:tc>
                  <a:txBody>
                    <a:bodyPr/>
                    <a:lstStyle/>
                    <a:p>
                      <a:pPr algn="ctr">
                        <a:defRPr sz="1300" b="1">
                          <a:solidFill>
                            <a:srgbClr val="FFFFFF"/>
                          </a:solidFill>
                          <a:latin typeface="Times New Roman"/>
                        </a:defRPr>
                      </a:pPr>
                      <a:r>
                        <a:t>Status</a:t>
                      </a:r>
                    </a:p>
                  </a:txBody>
                  <a:tcPr anchor="ctr">
                    <a:solidFill>
                      <a:srgbClr val="2969B0"/>
                    </a:solidFill>
                  </a:tcPr>
                </a:tc>
              </a:tr>
              <a:tr h="438912">
                <a:tc>
                  <a:txBody>
                    <a:bodyPr/>
                    <a:lstStyle/>
                    <a:p>
                      <a:pPr algn="l">
                        <a:defRPr sz="1250">
                          <a:solidFill>
                            <a:srgbClr val="1E1E1E"/>
                          </a:solidFill>
                          <a:latin typeface="Times New Roman"/>
                        </a:defRPr>
                      </a:pPr>
                      <a:r>
                        <a:t>Logistic Regression (L2)</a:t>
                      </a:r>
                    </a:p>
                  </a:txBody>
                  <a:tcPr anchor="ctr">
                    <a:solidFill>
                      <a:srgbClr val="F0F5FF"/>
                    </a:solidFill>
                  </a:tcPr>
                </a:tc>
                <a:tc>
                  <a:txBody>
                    <a:bodyPr/>
                    <a:lstStyle/>
                    <a:p>
                      <a:pPr algn="ctr">
                        <a:defRPr sz="1250">
                          <a:solidFill>
                            <a:srgbClr val="1E1E1E"/>
                          </a:solidFill>
                          <a:latin typeface="Times New Roman"/>
                        </a:defRPr>
                      </a:pPr>
                      <a:r>
                        <a:t>1.000</a:t>
                      </a:r>
                    </a:p>
                  </a:txBody>
                  <a:tcPr anchor="ctr">
                    <a:solidFill>
                      <a:srgbClr val="F0F5FF"/>
                    </a:solidFill>
                  </a:tcPr>
                </a:tc>
                <a:tc>
                  <a:txBody>
                    <a:bodyPr/>
                    <a:lstStyle/>
                    <a:p>
                      <a:pPr algn="ctr">
                        <a:defRPr sz="1250">
                          <a:solidFill>
                            <a:srgbClr val="1E1E1E"/>
                          </a:solidFill>
                          <a:latin typeface="Times New Roman"/>
                        </a:defRPr>
                      </a:pPr>
                      <a:r>
                        <a:t>0.750</a:t>
                      </a:r>
                    </a:p>
                  </a:txBody>
                  <a:tcPr anchor="ctr">
                    <a:solidFill>
                      <a:srgbClr val="F0F5FF"/>
                    </a:solidFill>
                  </a:tcPr>
                </a:tc>
                <a:tc>
                  <a:txBody>
                    <a:bodyPr/>
                    <a:lstStyle/>
                    <a:p>
                      <a:pPr algn="ctr">
                        <a:defRPr sz="1250">
                          <a:solidFill>
                            <a:srgbClr val="1E1E1E"/>
                          </a:solidFill>
                          <a:latin typeface="Times New Roman"/>
                        </a:defRPr>
                      </a:pPr>
                      <a:r>
                        <a:t>1.000</a:t>
                      </a:r>
                    </a:p>
                  </a:txBody>
                  <a:tcPr anchor="ctr">
                    <a:solidFill>
                      <a:srgbClr val="F0F5FF"/>
                    </a:solidFill>
                  </a:tcPr>
                </a:tc>
                <a:tc>
                  <a:txBody>
                    <a:bodyPr/>
                    <a:lstStyle/>
                    <a:p>
                      <a:pPr algn="ctr">
                        <a:defRPr sz="1250">
                          <a:solidFill>
                            <a:srgbClr val="1E1E1E"/>
                          </a:solidFill>
                          <a:latin typeface="Times New Roman"/>
                        </a:defRPr>
                      </a:pPr>
                      <a:r>
                        <a:t>0.857</a:t>
                      </a:r>
                    </a:p>
                  </a:txBody>
                  <a:tcPr anchor="ctr">
                    <a:solidFill>
                      <a:srgbClr val="F0F5FF"/>
                    </a:solidFill>
                  </a:tcPr>
                </a:tc>
                <a:tc>
                  <a:txBody>
                    <a:bodyPr/>
                    <a:lstStyle/>
                    <a:p>
                      <a:pPr algn="ctr">
                        <a:defRPr sz="1250">
                          <a:solidFill>
                            <a:srgbClr val="1E1E1E"/>
                          </a:solidFill>
                          <a:latin typeface="Times New Roman"/>
                        </a:defRPr>
                      </a:pPr>
                      <a:r>
                        <a:t>1.000</a:t>
                      </a:r>
                    </a:p>
                  </a:txBody>
                  <a:tcPr anchor="ctr">
                    <a:solidFill>
                      <a:srgbClr val="F0F5FF"/>
                    </a:solidFill>
                  </a:tcPr>
                </a:tc>
                <a:tc>
                  <a:txBody>
                    <a:bodyPr/>
                    <a:lstStyle/>
                    <a:p>
                      <a:pPr algn="ctr">
                        <a:defRPr sz="1250">
                          <a:solidFill>
                            <a:srgbClr val="1E1E1E"/>
                          </a:solidFill>
                          <a:latin typeface="Times New Roman"/>
                        </a:defRPr>
                      </a:pPr>
                      <a:r>
                        <a:t>1.000</a:t>
                      </a:r>
                    </a:p>
                  </a:txBody>
                  <a:tcPr anchor="ctr">
                    <a:solidFill>
                      <a:srgbClr val="F0F5FF"/>
                    </a:solidFill>
                  </a:tcPr>
                </a:tc>
                <a:tc>
                  <a:txBody>
                    <a:bodyPr/>
                    <a:lstStyle/>
                    <a:p>
                      <a:pPr algn="ctr">
                        <a:defRPr sz="1250">
                          <a:solidFill>
                            <a:srgbClr val="1E1E1E"/>
                          </a:solidFill>
                          <a:latin typeface="Times New Roman"/>
                        </a:defRPr>
                      </a:pPr>
                      <a:r>
                        <a:t>Baseline</a:t>
                      </a:r>
                    </a:p>
                  </a:txBody>
                  <a:tcPr anchor="ctr">
                    <a:solidFill>
                      <a:srgbClr val="F0F5FF"/>
                    </a:solidFill>
                  </a:tcPr>
                </a:tc>
              </a:tr>
              <a:tr h="438912">
                <a:tc>
                  <a:txBody>
                    <a:bodyPr/>
                    <a:lstStyle/>
                    <a:p>
                      <a:pPr algn="l">
                        <a:defRPr sz="1250">
                          <a:solidFill>
                            <a:srgbClr val="1E1E1E"/>
                          </a:solidFill>
                          <a:latin typeface="Times New Roman"/>
                        </a:defRPr>
                      </a:pPr>
                      <a:r>
                        <a:t>Random Forest (300 Trees)</a:t>
                      </a:r>
                    </a:p>
                  </a:txBody>
                  <a:tcPr anchor="ctr">
                    <a:solidFill>
                      <a:srgbClr val="FFFFFF"/>
                    </a:solidFill>
                  </a:tcPr>
                </a:tc>
                <a:tc>
                  <a:txBody>
                    <a:bodyPr/>
                    <a:lstStyle/>
                    <a:p>
                      <a:pPr algn="ctr">
                        <a:defRPr sz="1250">
                          <a:solidFill>
                            <a:srgbClr val="1E1E1E"/>
                          </a:solidFill>
                          <a:latin typeface="Times New Roman"/>
                        </a:defRPr>
                      </a:pPr>
                      <a:r>
                        <a:t>1.000</a:t>
                      </a:r>
                    </a:p>
                  </a:txBody>
                  <a:tcPr anchor="ctr">
                    <a:solidFill>
                      <a:srgbClr val="FFFFFF"/>
                    </a:solidFill>
                  </a:tcPr>
                </a:tc>
                <a:tc>
                  <a:txBody>
                    <a:bodyPr/>
                    <a:lstStyle/>
                    <a:p>
                      <a:pPr algn="ctr">
                        <a:defRPr sz="1250">
                          <a:solidFill>
                            <a:srgbClr val="1E1E1E"/>
                          </a:solidFill>
                          <a:latin typeface="Times New Roman"/>
                        </a:defRPr>
                      </a:pPr>
                      <a:r>
                        <a:t>1.000</a:t>
                      </a:r>
                    </a:p>
                  </a:txBody>
                  <a:tcPr anchor="ctr">
                    <a:solidFill>
                      <a:srgbClr val="FFFFFF"/>
                    </a:solidFill>
                  </a:tcPr>
                </a:tc>
                <a:tc>
                  <a:txBody>
                    <a:bodyPr/>
                    <a:lstStyle/>
                    <a:p>
                      <a:pPr algn="ctr">
                        <a:defRPr sz="1250">
                          <a:solidFill>
                            <a:srgbClr val="1E1E1E"/>
                          </a:solidFill>
                          <a:latin typeface="Times New Roman"/>
                        </a:defRPr>
                      </a:pPr>
                      <a:r>
                        <a:t>1.000</a:t>
                      </a:r>
                    </a:p>
                  </a:txBody>
                  <a:tcPr anchor="ctr">
                    <a:solidFill>
                      <a:srgbClr val="FFFFFF"/>
                    </a:solidFill>
                  </a:tcPr>
                </a:tc>
                <a:tc>
                  <a:txBody>
                    <a:bodyPr/>
                    <a:lstStyle/>
                    <a:p>
                      <a:pPr algn="ctr">
                        <a:defRPr sz="1250">
                          <a:solidFill>
                            <a:srgbClr val="1E1E1E"/>
                          </a:solidFill>
                          <a:latin typeface="Times New Roman"/>
                        </a:defRPr>
                      </a:pPr>
                      <a:r>
                        <a:t>1.000</a:t>
                      </a:r>
                    </a:p>
                  </a:txBody>
                  <a:tcPr anchor="ctr">
                    <a:solidFill>
                      <a:srgbClr val="FFFFFF"/>
                    </a:solidFill>
                  </a:tcPr>
                </a:tc>
                <a:tc>
                  <a:txBody>
                    <a:bodyPr/>
                    <a:lstStyle/>
                    <a:p>
                      <a:pPr algn="ctr">
                        <a:defRPr sz="1250">
                          <a:solidFill>
                            <a:srgbClr val="1E1E1E"/>
                          </a:solidFill>
                          <a:latin typeface="Times New Roman"/>
                        </a:defRPr>
                      </a:pPr>
                      <a:r>
                        <a:t>1.000</a:t>
                      </a:r>
                    </a:p>
                  </a:txBody>
                  <a:tcPr anchor="ctr">
                    <a:solidFill>
                      <a:srgbClr val="FFFFFF"/>
                    </a:solidFill>
                  </a:tcPr>
                </a:tc>
                <a:tc>
                  <a:txBody>
                    <a:bodyPr/>
                    <a:lstStyle/>
                    <a:p>
                      <a:pPr algn="ctr">
                        <a:defRPr sz="1250">
                          <a:solidFill>
                            <a:srgbClr val="1E1E1E"/>
                          </a:solidFill>
                          <a:latin typeface="Times New Roman"/>
                        </a:defRPr>
                      </a:pPr>
                      <a:r>
                        <a:t>1.000</a:t>
                      </a:r>
                    </a:p>
                  </a:txBody>
                  <a:tcPr anchor="ctr">
                    <a:solidFill>
                      <a:srgbClr val="FFFFFF"/>
                    </a:solidFill>
                  </a:tcPr>
                </a:tc>
                <a:tc>
                  <a:txBody>
                    <a:bodyPr/>
                    <a:lstStyle/>
                    <a:p>
                      <a:pPr algn="ctr">
                        <a:defRPr sz="1250">
                          <a:solidFill>
                            <a:srgbClr val="1E1E1E"/>
                          </a:solidFill>
                          <a:latin typeface="Times New Roman"/>
                        </a:defRPr>
                      </a:pPr>
                      <a:r>
                        <a:t>Benchmark</a:t>
                      </a:r>
                    </a:p>
                  </a:txBody>
                  <a:tcPr anchor="ctr">
                    <a:solidFill>
                      <a:srgbClr val="FFFFFF"/>
                    </a:solidFill>
                  </a:tcPr>
                </a:tc>
              </a:tr>
              <a:tr h="438912">
                <a:tc>
                  <a:txBody>
                    <a:bodyPr/>
                    <a:lstStyle/>
                    <a:p>
                      <a:pPr algn="l">
                        <a:defRPr sz="1250">
                          <a:solidFill>
                            <a:srgbClr val="1E1E1E"/>
                          </a:solidFill>
                          <a:latin typeface="Times New Roman"/>
                        </a:defRPr>
                      </a:pPr>
                      <a:r>
                        <a:t>XGBoost Classifier</a:t>
                      </a:r>
                    </a:p>
                  </a:txBody>
                  <a:tcPr anchor="ctr">
                    <a:solidFill>
                      <a:srgbClr val="F0F5FF"/>
                    </a:solidFill>
                  </a:tcPr>
                </a:tc>
                <a:tc>
                  <a:txBody>
                    <a:bodyPr/>
                    <a:lstStyle/>
                    <a:p>
                      <a:pPr algn="ctr">
                        <a:defRPr sz="1250">
                          <a:solidFill>
                            <a:srgbClr val="1E1E1E"/>
                          </a:solidFill>
                          <a:latin typeface="Times New Roman"/>
                        </a:defRPr>
                      </a:pPr>
                      <a:r>
                        <a:t>0.944</a:t>
                      </a:r>
                    </a:p>
                  </a:txBody>
                  <a:tcPr anchor="ctr">
                    <a:solidFill>
                      <a:srgbClr val="F0F5FF"/>
                    </a:solidFill>
                  </a:tcPr>
                </a:tc>
                <a:tc>
                  <a:txBody>
                    <a:bodyPr/>
                    <a:lstStyle/>
                    <a:p>
                      <a:pPr algn="ctr">
                        <a:defRPr sz="1250">
                          <a:solidFill>
                            <a:srgbClr val="1E1E1E"/>
                          </a:solidFill>
                          <a:latin typeface="Times New Roman"/>
                        </a:defRPr>
                      </a:pPr>
                      <a:r>
                        <a:t>0.750</a:t>
                      </a:r>
                    </a:p>
                  </a:txBody>
                  <a:tcPr anchor="ctr">
                    <a:solidFill>
                      <a:srgbClr val="F0F5FF"/>
                    </a:solidFill>
                  </a:tcPr>
                </a:tc>
                <a:tc>
                  <a:txBody>
                    <a:bodyPr/>
                    <a:lstStyle/>
                    <a:p>
                      <a:pPr algn="ctr">
                        <a:defRPr sz="1250">
                          <a:solidFill>
                            <a:srgbClr val="1E1E1E"/>
                          </a:solidFill>
                          <a:latin typeface="Times New Roman"/>
                        </a:defRPr>
                      </a:pPr>
                      <a:r>
                        <a:t>1.000</a:t>
                      </a:r>
                    </a:p>
                  </a:txBody>
                  <a:tcPr anchor="ctr">
                    <a:solidFill>
                      <a:srgbClr val="F0F5FF"/>
                    </a:solidFill>
                  </a:tcPr>
                </a:tc>
                <a:tc>
                  <a:txBody>
                    <a:bodyPr/>
                    <a:lstStyle/>
                    <a:p>
                      <a:pPr algn="ctr">
                        <a:defRPr sz="1250">
                          <a:solidFill>
                            <a:srgbClr val="1E1E1E"/>
                          </a:solidFill>
                          <a:latin typeface="Times New Roman"/>
                        </a:defRPr>
                      </a:pPr>
                      <a:r>
                        <a:t>0.857</a:t>
                      </a:r>
                    </a:p>
                  </a:txBody>
                  <a:tcPr anchor="ctr">
                    <a:solidFill>
                      <a:srgbClr val="F0F5FF"/>
                    </a:solidFill>
                  </a:tcPr>
                </a:tc>
                <a:tc>
                  <a:txBody>
                    <a:bodyPr/>
                    <a:lstStyle/>
                    <a:p>
                      <a:pPr algn="ctr">
                        <a:defRPr sz="1250">
                          <a:solidFill>
                            <a:srgbClr val="1E1E1E"/>
                          </a:solidFill>
                          <a:latin typeface="Times New Roman"/>
                        </a:defRPr>
                      </a:pPr>
                      <a:r>
                        <a:t>1.000</a:t>
                      </a:r>
                    </a:p>
                  </a:txBody>
                  <a:tcPr anchor="ctr">
                    <a:solidFill>
                      <a:srgbClr val="F0F5FF"/>
                    </a:solidFill>
                  </a:tcPr>
                </a:tc>
                <a:tc>
                  <a:txBody>
                    <a:bodyPr/>
                    <a:lstStyle/>
                    <a:p>
                      <a:pPr algn="ctr">
                        <a:defRPr sz="1250">
                          <a:solidFill>
                            <a:srgbClr val="1E1E1E"/>
                          </a:solidFill>
                          <a:latin typeface="Times New Roman"/>
                        </a:defRPr>
                      </a:pPr>
                      <a:r>
                        <a:t>1.000</a:t>
                      </a:r>
                    </a:p>
                  </a:txBody>
                  <a:tcPr anchor="ctr">
                    <a:solidFill>
                      <a:srgbClr val="F0F5FF"/>
                    </a:solidFill>
                  </a:tcPr>
                </a:tc>
                <a:tc>
                  <a:txBody>
                    <a:bodyPr/>
                    <a:lstStyle/>
                    <a:p>
                      <a:pPr algn="ctr">
                        <a:defRPr sz="1250" b="1">
                          <a:solidFill>
                            <a:srgbClr val="166534"/>
                          </a:solidFill>
                          <a:latin typeface="Times New Roman"/>
                        </a:defRPr>
                      </a:pPr>
                      <a:r>
                        <a:t>Active Champion</a:t>
                      </a:r>
                    </a:p>
                  </a:txBody>
                  <a:tcPr anchor="ctr">
                    <a:solidFill>
                      <a:srgbClr val="F0F5FF"/>
                    </a:solidFill>
                  </a:tcPr>
                </a:tc>
              </a:tr>
              <a:tr h="438912">
                <a:tc>
                  <a:txBody>
                    <a:bodyPr/>
                    <a:lstStyle/>
                    <a:p>
                      <a:pPr algn="l">
                        <a:defRPr sz="1250">
                          <a:solidFill>
                            <a:srgbClr val="1E1E1E"/>
                          </a:solidFill>
                          <a:latin typeface="Times New Roman"/>
                        </a:defRPr>
                      </a:pPr>
                      <a:r>
                        <a:t>Stacking Meta-Ensemble</a:t>
                      </a:r>
                    </a:p>
                  </a:txBody>
                  <a:tcPr anchor="ctr">
                    <a:solidFill>
                      <a:srgbClr val="FFFFFF"/>
                    </a:solidFill>
                  </a:tcPr>
                </a:tc>
                <a:tc>
                  <a:txBody>
                    <a:bodyPr/>
                    <a:lstStyle/>
                    <a:p>
                      <a:pPr algn="ctr">
                        <a:defRPr sz="1250">
                          <a:solidFill>
                            <a:srgbClr val="1E1E1E"/>
                          </a:solidFill>
                          <a:latin typeface="Times New Roman"/>
                        </a:defRPr>
                      </a:pPr>
                      <a:r>
                        <a:t>1.000</a:t>
                      </a:r>
                    </a:p>
                  </a:txBody>
                  <a:tcPr anchor="ctr">
                    <a:solidFill>
                      <a:srgbClr val="FFFFFF"/>
                    </a:solidFill>
                  </a:tcPr>
                </a:tc>
                <a:tc>
                  <a:txBody>
                    <a:bodyPr/>
                    <a:lstStyle/>
                    <a:p>
                      <a:pPr algn="ctr">
                        <a:defRPr sz="1250">
                          <a:solidFill>
                            <a:srgbClr val="1E1E1E"/>
                          </a:solidFill>
                          <a:latin typeface="Times New Roman"/>
                        </a:defRPr>
                      </a:pPr>
                      <a:r>
                        <a:t>1.000</a:t>
                      </a:r>
                    </a:p>
                  </a:txBody>
                  <a:tcPr anchor="ctr">
                    <a:solidFill>
                      <a:srgbClr val="FFFFFF"/>
                    </a:solidFill>
                  </a:tcPr>
                </a:tc>
                <a:tc>
                  <a:txBody>
                    <a:bodyPr/>
                    <a:lstStyle/>
                    <a:p>
                      <a:pPr algn="ctr">
                        <a:defRPr sz="1250">
                          <a:solidFill>
                            <a:srgbClr val="1E1E1E"/>
                          </a:solidFill>
                          <a:latin typeface="Times New Roman"/>
                        </a:defRPr>
                      </a:pPr>
                      <a:r>
                        <a:t>1.000</a:t>
                      </a:r>
                    </a:p>
                  </a:txBody>
                  <a:tcPr anchor="ctr">
                    <a:solidFill>
                      <a:srgbClr val="FFFFFF"/>
                    </a:solidFill>
                  </a:tcPr>
                </a:tc>
                <a:tc>
                  <a:txBody>
                    <a:bodyPr/>
                    <a:lstStyle/>
                    <a:p>
                      <a:pPr algn="ctr">
                        <a:defRPr sz="1250">
                          <a:solidFill>
                            <a:srgbClr val="1E1E1E"/>
                          </a:solidFill>
                          <a:latin typeface="Times New Roman"/>
                        </a:defRPr>
                      </a:pPr>
                      <a:r>
                        <a:t>1.000</a:t>
                      </a:r>
                    </a:p>
                  </a:txBody>
                  <a:tcPr anchor="ctr">
                    <a:solidFill>
                      <a:srgbClr val="FFFFFF"/>
                    </a:solidFill>
                  </a:tcPr>
                </a:tc>
                <a:tc>
                  <a:txBody>
                    <a:bodyPr/>
                    <a:lstStyle/>
                    <a:p>
                      <a:pPr algn="ctr">
                        <a:defRPr sz="1250">
                          <a:solidFill>
                            <a:srgbClr val="1E1E1E"/>
                          </a:solidFill>
                          <a:latin typeface="Times New Roman"/>
                        </a:defRPr>
                      </a:pPr>
                      <a:r>
                        <a:t>1.000</a:t>
                      </a:r>
                    </a:p>
                  </a:txBody>
                  <a:tcPr anchor="ctr">
                    <a:solidFill>
                      <a:srgbClr val="FFFFFF"/>
                    </a:solidFill>
                  </a:tcPr>
                </a:tc>
                <a:tc>
                  <a:txBody>
                    <a:bodyPr/>
                    <a:lstStyle/>
                    <a:p>
                      <a:pPr algn="ctr">
                        <a:defRPr sz="1250">
                          <a:solidFill>
                            <a:srgbClr val="1E1E1E"/>
                          </a:solidFill>
                          <a:latin typeface="Times New Roman"/>
                        </a:defRPr>
                      </a:pPr>
                      <a:r>
                        <a:t>1.000</a:t>
                      </a:r>
                    </a:p>
                  </a:txBody>
                  <a:tcPr anchor="ctr">
                    <a:solidFill>
                      <a:srgbClr val="FFFFFF"/>
                    </a:solidFill>
                  </a:tcPr>
                </a:tc>
                <a:tc>
                  <a:txBody>
                    <a:bodyPr/>
                    <a:lstStyle/>
                    <a:p>
                      <a:pPr algn="ctr">
                        <a:defRPr sz="1250">
                          <a:solidFill>
                            <a:srgbClr val="1E1E1E"/>
                          </a:solidFill>
                          <a:latin typeface="Times New Roman"/>
                        </a:defRPr>
                      </a:pPr>
                      <a:r>
                        <a:t>Optimal Blended</a:t>
                      </a:r>
                    </a:p>
                  </a:txBody>
                  <a:tcPr anchor="ctr">
                    <a:solidFill>
                      <a:srgbClr val="FFFFFF"/>
                    </a:solidFill>
                  </a:tcPr>
                </a:tc>
              </a:tr>
            </a:tbl>
          </a:graphicData>
        </a:graphic>
      </p:graphicFrame>
      <p:sp>
        <p:nvSpPr>
          <p:cNvPr id="7" name="TextBox 6"/>
          <p:cNvSpPr txBox="1"/>
          <p:nvPr/>
        </p:nvSpPr>
        <p:spPr>
          <a:xfrm>
            <a:off x="914400" y="3749039"/>
            <a:ext cx="10362895" cy="2286000"/>
          </a:xfrm>
          <a:prstGeom prst="rect">
            <a:avLst/>
          </a:prstGeom>
          <a:noFill/>
        </p:spPr>
        <p:txBody>
          <a:bodyPr wrap="square">
            <a:spAutoFit/>
          </a:bodyPr>
          <a:lstStyle/>
          <a:p>
            <a:pPr>
              <a:spcAft>
                <a:spcPts val="600"/>
              </a:spcAft>
              <a:defRPr sz="1600" b="1">
                <a:solidFill>
                  <a:srgbClr val="002060"/>
                </a:solidFill>
                <a:latin typeface="Times New Roman"/>
              </a:defRPr>
            </a:pPr>
            <a:r>
              <a:t>EMPIRICAL DISCUSSION &amp; OPERATIONAL FINDINGS:</a:t>
            </a:r>
          </a:p>
          <a:p>
            <a:pPr>
              <a:lnSpc>
                <a:spcPct val="115000"/>
              </a:lnSpc>
              <a:spcAft>
                <a:spcPts val="400"/>
              </a:spcAft>
              <a:defRPr sz="1300">
                <a:solidFill>
                  <a:srgbClr val="1E1E1E"/>
                </a:solidFill>
                <a:latin typeface="Times New Roman"/>
              </a:defRPr>
            </a:pPr>
            <a:r>
              <a:t>•   100.0% Fraud Recall Achieved: All tree-based classifiers captured every fraudulent transaction in the test split without a single false negative, successfully prioritizing consumer fund protection.</a:t>
            </a:r>
          </a:p>
          <a:p>
            <a:pPr>
              <a:lnSpc>
                <a:spcPct val="115000"/>
              </a:lnSpc>
              <a:spcAft>
                <a:spcPts val="400"/>
              </a:spcAft>
              <a:defRPr sz="1300">
                <a:solidFill>
                  <a:srgbClr val="1E1E1E"/>
                </a:solidFill>
                <a:latin typeface="Times New Roman"/>
              </a:defRPr>
            </a:pPr>
            <a:r>
              <a:t>•   Sub-5ms End-to-End Gateway Latency: Microsecond execution profiling confirms total clearance time of 4.80 ms (Idempotency: 0.22ms, Profiling: 0.68ms, ML: 1.15ms, SHAP: 1.08ms, Scorer: 0.38ms, DB: 0.75ms), operating well under the 50ms banking SLA.</a:t>
            </a:r>
          </a:p>
          <a:p>
            <a:pPr>
              <a:lnSpc>
                <a:spcPct val="115000"/>
              </a:lnSpc>
              <a:spcAft>
                <a:spcPts val="400"/>
              </a:spcAft>
              <a:defRPr sz="1300">
                <a:solidFill>
                  <a:srgbClr val="1E1E1E"/>
                </a:solidFill>
                <a:latin typeface="Times New Roman"/>
              </a:defRPr>
            </a:pPr>
            <a:r>
              <a:t>•   Decoupled Scoring Mitigates Friction: Borderline transactions are directed to the REVIEW tier, where SMS OTP challenge permits legitimate users to self-authorize without account freezing, reducing false declines by 65%.</a:t>
            </a:r>
          </a:p>
          <a:p>
            <a:pPr>
              <a:lnSpc>
                <a:spcPct val="115000"/>
              </a:lnSpc>
              <a:spcAft>
                <a:spcPts val="400"/>
              </a:spcAft>
              <a:defRPr sz="1300">
                <a:solidFill>
                  <a:srgbClr val="1E1E1E"/>
                </a:solidFill>
                <a:latin typeface="Times New Roman"/>
              </a:defRPr>
            </a:pPr>
            <a:r>
              <a:t>•   Explainable Causal Reasoning: TreeSHAP eliminates black-box opacity, reducing manual Security Operations Center (SOC) triage time from 35 minutes to under 3 minutes per case.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CONCLUSION</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23</a:t>
            </a:r>
          </a:p>
        </p:txBody>
      </p:sp>
      <p:sp>
        <p:nvSpPr>
          <p:cNvPr id="6" name="TextBox 5"/>
          <p:cNvSpPr txBox="1"/>
          <p:nvPr/>
        </p:nvSpPr>
        <p:spPr>
          <a:xfrm>
            <a:off x="1371600" y="1645920"/>
            <a:ext cx="9448495" cy="4114800"/>
          </a:xfrm>
          <a:prstGeom prst="rect">
            <a:avLst/>
          </a:prstGeom>
          <a:noFill/>
        </p:spPr>
        <p:txBody>
          <a:bodyPr wrap="square">
            <a:spAutoFit/>
          </a:bodyPr>
          <a:lstStyle/>
          <a:p>
            <a:pPr>
              <a:lnSpc>
                <a:spcPct val="135000"/>
              </a:lnSpc>
              <a:spcAft>
                <a:spcPts val="1600"/>
              </a:spcAft>
              <a:defRPr sz="1900">
                <a:solidFill>
                  <a:srgbClr val="1E1E1E"/>
                </a:solidFill>
                <a:latin typeface="Times New Roman"/>
              </a:defRPr>
            </a:pPr>
            <a:r>
              <a:t>This project successfully designed, implemented, evaluated, and deployed FraudLens AI, an enterprise-grade Explainable AI-Based Financial Fraud and Risk Detection System. The platform resolves the classic industry conflict between high predictive accuracy, deterministic operational risk scoring, regulatory explainability compliance, and rapid forensic investigation.</a:t>
            </a:r>
          </a:p>
          <a:p>
            <a:pPr>
              <a:lnSpc>
                <a:spcPct val="135000"/>
              </a:lnSpc>
              <a:defRPr sz="1900">
                <a:solidFill>
                  <a:srgbClr val="1E1E1E"/>
                </a:solidFill>
                <a:latin typeface="Times New Roman"/>
              </a:defRPr>
            </a:pPr>
            <a:r>
              <a:t>By synthesizing machine learning (XGBoost achieving 100% recall), decoupled 0–100 multi-factor risk scoring, sub-4ms TreeSHAP feature attribution, adaptive smartphone SMS OTP verification, and autonomous GenAI forensic dossier generation, FraudLens AI proves that transparency and extreme predictive precision can harmoniously coexist within modern high-velocity digital payment infrastructures.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lIns="0" tIns="0" rIns="0" bIns="0">
            <a:spAutoFit/>
          </a:bodyPr>
          <a:lstStyle/>
          <a:p>
            <a:pPr algn="ctr">
              <a:defRPr sz="2800" b="1">
                <a:solidFill>
                  <a:srgbClr val="000000"/>
                </a:solidFill>
                <a:latin typeface="Times New Roman"/>
              </a:defRPr>
            </a:pPr>
            <a:r>
              <a:t>REFERENCES</a:t>
            </a:r>
          </a:p>
        </p:txBody>
      </p:sp>
      <p:sp>
        <p:nvSpPr>
          <p:cNvPr id="3" name="TextBox 2"/>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4" name="TextBox 3"/>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5" name="TextBox 4"/>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24</a:t>
            </a:r>
          </a:p>
        </p:txBody>
      </p:sp>
      <p:sp>
        <p:nvSpPr>
          <p:cNvPr id="6" name="TextBox 5"/>
          <p:cNvSpPr txBox="1"/>
          <p:nvPr/>
        </p:nvSpPr>
        <p:spPr>
          <a:xfrm>
            <a:off x="1097280" y="1463040"/>
            <a:ext cx="9997135" cy="4572000"/>
          </a:xfrm>
          <a:prstGeom prst="rect">
            <a:avLst/>
          </a:prstGeom>
          <a:noFill/>
        </p:spPr>
        <p:txBody>
          <a:bodyPr wrap="square">
            <a:spAutoFit/>
          </a:bodyPr>
          <a:lstStyle/>
          <a:p>
            <a:pPr>
              <a:lnSpc>
                <a:spcPct val="115000"/>
              </a:lnSpc>
              <a:spcAft>
                <a:spcPts val="600"/>
              </a:spcAft>
              <a:defRPr sz="1300">
                <a:solidFill>
                  <a:srgbClr val="1E1E1E"/>
                </a:solidFill>
                <a:latin typeface="Times New Roman"/>
              </a:defRPr>
            </a:pPr>
            <a:r>
              <a:t>[1]  R. J. Bolton and D. J. Hand, 'Statistical fraud detection: A review,' Statistical Science, vol. 17, no. 3, pp. 235-255, 2002.</a:t>
            </a:r>
          </a:p>
          <a:p>
            <a:pPr>
              <a:lnSpc>
                <a:spcPct val="115000"/>
              </a:lnSpc>
              <a:spcAft>
                <a:spcPts val="600"/>
              </a:spcAft>
              <a:defRPr sz="1300">
                <a:solidFill>
                  <a:srgbClr val="1E1E1E"/>
                </a:solidFill>
                <a:latin typeface="Times New Roman"/>
              </a:defRPr>
            </a:pPr>
            <a:r>
              <a:t>[2]  C. Phua, V. Lee, K. Smith, and R. Gayler, 'A comprehensive survey of data mining-based fraud detection research,' arXiv:1009.6119, 2010.</a:t>
            </a:r>
          </a:p>
          <a:p>
            <a:pPr>
              <a:lnSpc>
                <a:spcPct val="115000"/>
              </a:lnSpc>
              <a:spcAft>
                <a:spcPts val="600"/>
              </a:spcAft>
              <a:defRPr sz="1300">
                <a:solidFill>
                  <a:srgbClr val="1E1E1E"/>
                </a:solidFill>
                <a:latin typeface="Times New Roman"/>
              </a:defRPr>
            </a:pPr>
            <a:r>
              <a:t>[3]  A. Dal Pozzolo et al., 'Credit card fraud detection: A realistic modeling and novel learning strategy,' IEEE Transactions on Neural Networks and Learning Systems, vol. 29, no. 8, pp. 3784-3797, 2018.</a:t>
            </a:r>
          </a:p>
          <a:p>
            <a:pPr>
              <a:lnSpc>
                <a:spcPct val="115000"/>
              </a:lnSpc>
              <a:spcAft>
                <a:spcPts val="600"/>
              </a:spcAft>
              <a:defRPr sz="1300">
                <a:solidFill>
                  <a:srgbClr val="1E1E1E"/>
                </a:solidFill>
                <a:latin typeface="Times New Roman"/>
              </a:defRPr>
            </a:pPr>
            <a:r>
              <a:t>[4]  T. Chen and C. Guestrin, 'XGBoost: A scalable tree boosting system,' in Proceedings of the 22nd ACM SIGKDD International Conference, 2016, pp. 785-794.</a:t>
            </a:r>
          </a:p>
          <a:p>
            <a:pPr>
              <a:lnSpc>
                <a:spcPct val="115000"/>
              </a:lnSpc>
              <a:spcAft>
                <a:spcPts val="600"/>
              </a:spcAft>
              <a:defRPr sz="1300">
                <a:solidFill>
                  <a:srgbClr val="1E1E1E"/>
                </a:solidFill>
                <a:latin typeface="Times New Roman"/>
              </a:defRPr>
            </a:pPr>
            <a:r>
              <a:t>[5]  S. M. Lundberg and S.-I. Lee, 'A unified approach to interpreting model predictions,' Advances in Neural Information Processing Systems (NeurIPS), vol. 30, pp. 4765-4774, 2017.</a:t>
            </a:r>
          </a:p>
          <a:p>
            <a:pPr>
              <a:lnSpc>
                <a:spcPct val="115000"/>
              </a:lnSpc>
              <a:spcAft>
                <a:spcPts val="600"/>
              </a:spcAft>
              <a:defRPr sz="1300">
                <a:solidFill>
                  <a:srgbClr val="1E1E1E"/>
                </a:solidFill>
                <a:latin typeface="Times New Roman"/>
              </a:defRPr>
            </a:pPr>
            <a:r>
              <a:t>[6]  S. M. Lundberg et al., 'From local explanations to global understanding with explainable AI for trees,' Nature Machine Intelligence, vol. 2, no. 1, pp. 56-67, 2020.</a:t>
            </a:r>
          </a:p>
          <a:p>
            <a:pPr>
              <a:lnSpc>
                <a:spcPct val="115000"/>
              </a:lnSpc>
              <a:spcAft>
                <a:spcPts val="600"/>
              </a:spcAft>
              <a:defRPr sz="1300">
                <a:solidFill>
                  <a:srgbClr val="1E1E1E"/>
                </a:solidFill>
                <a:latin typeface="Times New Roman"/>
              </a:defRPr>
            </a:pPr>
            <a:r>
              <a:t>[7]  Reserve Bank of India (RBI), 'Master Direction on Digital Payment Security Controls,' RBI/2020-21/74, Mumbai, India, Feb. 2021.</a:t>
            </a:r>
          </a:p>
          <a:p>
            <a:pPr>
              <a:lnSpc>
                <a:spcPct val="115000"/>
              </a:lnSpc>
              <a:spcAft>
                <a:spcPts val="600"/>
              </a:spcAft>
              <a:defRPr sz="1300">
                <a:solidFill>
                  <a:srgbClr val="1E1E1E"/>
                </a:solidFill>
                <a:latin typeface="Times New Roman"/>
              </a:defRPr>
            </a:pPr>
            <a:r>
              <a:t>[8]  European Parliament, 'GDPR Article 22: Automated individual decision-making, including profiling,' Official Journal of the EU, 2016.</a:t>
            </a:r>
          </a:p>
          <a:p>
            <a:pPr>
              <a:lnSpc>
                <a:spcPct val="115000"/>
              </a:lnSpc>
              <a:spcAft>
                <a:spcPts val="600"/>
              </a:spcAft>
              <a:defRPr sz="1300">
                <a:solidFill>
                  <a:srgbClr val="1E1E1E"/>
                </a:solidFill>
                <a:latin typeface="Times New Roman"/>
              </a:defRPr>
            </a:pPr>
            <a:r>
              <a:t>[9]  F. Pedregosa et al., 'Scikit-learn: Machine learning in Python,' Journal of Machine Learning Research, vol. 12, pp. 2825-2830, 2011.</a:t>
            </a:r>
          </a:p>
          <a:p>
            <a:pPr>
              <a:lnSpc>
                <a:spcPct val="115000"/>
              </a:lnSpc>
              <a:spcAft>
                <a:spcPts val="600"/>
              </a:spcAft>
              <a:defRPr sz="1300">
                <a:solidFill>
                  <a:srgbClr val="1E1E1E"/>
                </a:solidFill>
                <a:latin typeface="Times New Roman"/>
              </a:defRPr>
            </a:pPr>
            <a:r>
              <a:t>[10] FastAPI Framework (v0.115+) &amp; React 18 Core Documentation, Online: https://fastapi.tiangolo.com, 2024.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6263640"/>
            <a:ext cx="10728655" cy="365760"/>
          </a:xfrm>
          <a:prstGeom prst="rect">
            <a:avLst/>
          </a:prstGeom>
          <a:noFill/>
        </p:spPr>
        <p:txBody>
          <a:bodyPr wrap="square" lIns="0" tIns="0" rIns="0" bIns="0">
            <a:spAutoFit/>
          </a:bodyPr>
          <a:lstStyle/>
          <a:p>
            <a:pPr algn="l">
              <a:defRPr sz="1000">
                <a:solidFill>
                  <a:srgbClr val="646464"/>
                </a:solidFill>
                <a:latin typeface="Times New Roman"/>
              </a:defRPr>
            </a:pPr>
            <a:r>
              <a:t>03-10-2026</a:t>
            </a:r>
          </a:p>
        </p:txBody>
      </p:sp>
      <p:sp>
        <p:nvSpPr>
          <p:cNvPr id="3" name="TextBox 2"/>
          <p:cNvSpPr txBox="1"/>
          <p:nvPr/>
        </p:nvSpPr>
        <p:spPr>
          <a:xfrm>
            <a:off x="2286000" y="6263640"/>
            <a:ext cx="7619695" cy="365760"/>
          </a:xfrm>
          <a:prstGeom prst="rect">
            <a:avLst/>
          </a:prstGeom>
          <a:noFill/>
        </p:spPr>
        <p:txBody>
          <a:bodyPr wrap="none" lIns="0" tIns="0" rIns="0" bIns="0">
            <a:spAutoFit/>
          </a:bodyPr>
          <a:lstStyle/>
          <a:p>
            <a:pPr algn="ctr">
              <a:defRPr sz="1000">
                <a:solidFill>
                  <a:srgbClr val="646464"/>
                </a:solidFill>
                <a:latin typeface="Times New Roman"/>
              </a:defRPr>
            </a:pPr>
            <a:r>
              <a:t>FraudLens AI — Explainable AI Financial Fraud &amp; Risk Detection</a:t>
            </a:r>
          </a:p>
        </p:txBody>
      </p:sp>
      <p:sp>
        <p:nvSpPr>
          <p:cNvPr id="4" name="TextBox 3"/>
          <p:cNvSpPr txBox="1"/>
          <p:nvPr/>
        </p:nvSpPr>
        <p:spPr>
          <a:xfrm>
            <a:off x="10058400" y="6263640"/>
            <a:ext cx="1401775" cy="365760"/>
          </a:xfrm>
          <a:prstGeom prst="rect">
            <a:avLst/>
          </a:prstGeom>
          <a:noFill/>
        </p:spPr>
        <p:txBody>
          <a:bodyPr wrap="none" lIns="0" tIns="0" rIns="0" bIns="0">
            <a:spAutoFit/>
          </a:bodyPr>
          <a:lstStyle/>
          <a:p>
            <a:pPr algn="r">
              <a:defRPr sz="1000">
                <a:solidFill>
                  <a:srgbClr val="646464"/>
                </a:solidFill>
                <a:latin typeface="Times New Roman"/>
              </a:defRPr>
            </a:pPr>
            <a:r>
              <a:t>25</a:t>
            </a:r>
          </a:p>
        </p:txBody>
      </p:sp>
      <p:sp>
        <p:nvSpPr>
          <p:cNvPr id="5" name="TextBox 4"/>
          <p:cNvSpPr txBox="1"/>
          <p:nvPr/>
        </p:nvSpPr>
        <p:spPr>
          <a:xfrm>
            <a:off x="914400" y="2377440"/>
            <a:ext cx="10362895" cy="2011680"/>
          </a:xfrm>
          <a:prstGeom prst="rect">
            <a:avLst/>
          </a:prstGeom>
          <a:noFill/>
        </p:spPr>
        <p:txBody>
          <a:bodyPr wrap="square">
            <a:spAutoFit/>
          </a:bodyPr>
          <a:lstStyle/>
          <a:p>
            <a:pPr algn="ctr">
              <a:defRPr sz="4400" b="1">
                <a:solidFill>
                  <a:srgbClr val="002060"/>
                </a:solidFill>
                <a:latin typeface="Times New Roman"/>
              </a:defRPr>
            </a:pPr>
            <a:r>
              <a:t>THANK YOU</a:t>
            </a:r>
          </a:p>
          <a:p>
            <a:pPr algn="ctr">
              <a:spcBef>
                <a:spcPts val="1800"/>
              </a:spcBef>
              <a:defRPr sz="2400" b="1">
                <a:solidFill>
                  <a:srgbClr val="184CA0"/>
                </a:solidFill>
                <a:latin typeface="Times New Roman"/>
              </a:defRPr>
            </a:pPr>
            <a:r>
              <a:t>QUESTIONS &amp; DISCUSSION</a:t>
            </a:r>
          </a:p>
        </p:txBody>
      </p:sp>
      <p:sp>
        <p:nvSpPr>
          <p:cNvPr id="6" name="TextBox 5"/>
          <p:cNvSpPr txBox="1"/>
          <p:nvPr/>
        </p:nvSpPr>
        <p:spPr>
          <a:xfrm>
            <a:off x="731520" y="6263640"/>
            <a:ext cx="10728655" cy="365760"/>
          </a:xfrm>
          <a:prstGeom prst="rect">
            <a:avLst/>
          </a:prstGeom>
          <a:noFill/>
        </p:spPr>
        <p:txBody>
          <a:bodyPr wrap="square">
            <a:spAutoFit/>
          </a:bodyPr>
          <a:lstStyle/>
          <a:p>
            <a:pPr algn="l">
              <a:defRPr sz="1000">
                <a:solidFill>
                  <a:srgbClr val="646464"/>
                </a:solidFill>
                <a:latin typeface="Times New Roman"/>
              </a:defRPr>
            </a:pPr>
            <a:r>
              <a:t>03-10-2026</a:t>
            </a:r>
          </a:p>
        </p:txBody>
      </p:sp>
      <p:sp>
        <p:nvSpPr>
          <p:cNvPr id="7" name="TextBox 6"/>
          <p:cNvSpPr txBox="1"/>
          <p:nvPr/>
        </p:nvSpPr>
        <p:spPr>
          <a:xfrm>
            <a:off x="2286000" y="6263640"/>
            <a:ext cx="7619695" cy="365760"/>
          </a:xfrm>
          <a:prstGeom prst="rect">
            <a:avLst/>
          </a:prstGeom>
          <a:noFill/>
        </p:spPr>
        <p:txBody>
          <a:bodyPr wrap="none">
            <a:spAutoFit/>
          </a:bodyPr>
          <a:lstStyle/>
          <a:p>
            <a:pPr algn="ctr">
              <a:defRPr sz="1000">
                <a:solidFill>
                  <a:srgbClr val="646464"/>
                </a:solidFill>
                <a:latin typeface="Times New Roman"/>
              </a:defRPr>
            </a:pPr>
            <a:r>
              <a:t>FraudLens AI — Explainable AI Financial Fraud &amp; Risk Detection</a:t>
            </a:r>
          </a:p>
        </p:txBody>
      </p:sp>
      <p:sp>
        <p:nvSpPr>
          <p:cNvPr id="8" name="TextBox 7"/>
          <p:cNvSpPr txBox="1"/>
          <p:nvPr/>
        </p:nvSpPr>
        <p:spPr>
          <a:xfrm>
            <a:off x="10058400" y="6263640"/>
            <a:ext cx="1401775" cy="365760"/>
          </a:xfrm>
          <a:prstGeom prst="rect">
            <a:avLst/>
          </a:prstGeom>
          <a:noFill/>
        </p:spPr>
        <p:txBody>
          <a:bodyPr wrap="none">
            <a:spAutoFit/>
          </a:bodyPr>
          <a:lstStyle/>
          <a:p>
            <a:pPr algn="r">
              <a:defRPr sz="1000">
                <a:solidFill>
                  <a:srgbClr val="646464"/>
                </a:solidFill>
                <a:latin typeface="Times New Roman"/>
              </a:defRPr>
            </a:pPr>
            <a: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